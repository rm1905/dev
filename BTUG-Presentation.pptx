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8" r:id="rId13"/>
    <p:sldId id="269" r:id="rId14"/>
    <p:sldId id="266" r:id="rId15"/>
  </p:sldIdLst>
  <p:sldSz cx="12192000" cy="6858000"/>
  <p:notesSz cx="6858000" cy="9144000"/>
  <p:embeddedFontLst>
    <p:embeddedFont>
      <p:font typeface="Play" panose="020B0604020202020204" charset="0"/>
      <p:regular r:id="rId17"/>
      <p:bold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Medium" panose="000006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hYY7g+kFhwI+qb5jRF4ljPsvO7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D516A9-47F4-4DB3-A26E-E26C34C3C17C}">
  <a:tblStyle styleId="{30D516A9-47F4-4DB3-A26E-E26C34C3C17C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b81681b6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19" name="Google Shape;919;g3b81681b6a2_0_0:notes"/>
          <p:cNvSpPr txBox="1">
            <a:spLocks noGrp="1"/>
          </p:cNvSpPr>
          <p:nvPr>
            <p:ph type="body" idx="1"/>
          </p:nvPr>
        </p:nvSpPr>
        <p:spPr>
          <a:xfrm>
            <a:off x="399118" y="4343399"/>
            <a:ext cx="60597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89600" rIns="89600" bIns="896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b81681b6a2_0_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05" name="Google Shape;1005;g3b81681b6a2_0_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2 - Title Slide_ B">
  <p:cSld name="Title Slide_ B_1">
    <p:bg>
      <p:bgPr>
        <a:solidFill>
          <a:srgbClr val="EEF4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g3b81681b6a2_0_723"/>
          <p:cNvGrpSpPr/>
          <p:nvPr/>
        </p:nvGrpSpPr>
        <p:grpSpPr>
          <a:xfrm>
            <a:off x="8212153" y="823369"/>
            <a:ext cx="3840852" cy="3839700"/>
            <a:chOff x="8209690" y="823369"/>
            <a:chExt cx="3839700" cy="3839700"/>
          </a:xfrm>
        </p:grpSpPr>
        <p:sp>
          <p:nvSpPr>
            <p:cNvPr id="17" name="Google Shape;17;g3b81681b6a2_0_723"/>
            <p:cNvSpPr/>
            <p:nvPr/>
          </p:nvSpPr>
          <p:spPr>
            <a:xfrm>
              <a:off x="8209690" y="823369"/>
              <a:ext cx="3839700" cy="3839700"/>
            </a:xfrm>
            <a:prstGeom prst="ellipse">
              <a:avLst/>
            </a:prstGeom>
            <a:solidFill>
              <a:srgbClr val="1AB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" name="Google Shape;18;g3b81681b6a2_0_723"/>
            <p:cNvPicPr preferRelativeResize="0"/>
            <p:nvPr/>
          </p:nvPicPr>
          <p:blipFill rotWithShape="1">
            <a:blip r:embed="rId2">
              <a:alphaModFix amt="72000"/>
            </a:blip>
            <a:srcRect l="-3925" t="-8689" r="38175" b="-27718"/>
            <a:stretch/>
          </p:blipFill>
          <p:spPr>
            <a:xfrm>
              <a:off x="8210207" y="823879"/>
              <a:ext cx="3838500" cy="38385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" name="Google Shape;19;g3b81681b6a2_0_723"/>
            <p:cNvPicPr preferRelativeResize="0"/>
            <p:nvPr/>
          </p:nvPicPr>
          <p:blipFill rotWithShape="1">
            <a:blip r:embed="rId2">
              <a:alphaModFix/>
            </a:blip>
            <a:srcRect l="-224" t="-63634" r="34473" b="27227"/>
            <a:stretch/>
          </p:blipFill>
          <p:spPr>
            <a:xfrm flipH="1">
              <a:off x="8210207" y="823879"/>
              <a:ext cx="3838500" cy="3838500"/>
            </a:xfrm>
            <a:prstGeom prst="ellipse">
              <a:avLst/>
            </a:prstGeom>
            <a:noFill/>
            <a:ln>
              <a:noFill/>
            </a:ln>
          </p:spPr>
        </p:pic>
      </p:grpSp>
      <p:grpSp>
        <p:nvGrpSpPr>
          <p:cNvPr id="20" name="Google Shape;20;g3b81681b6a2_0_723"/>
          <p:cNvGrpSpPr/>
          <p:nvPr/>
        </p:nvGrpSpPr>
        <p:grpSpPr>
          <a:xfrm>
            <a:off x="3277434" y="3273876"/>
            <a:ext cx="8915049" cy="3585012"/>
            <a:chOff x="3276450" y="3273876"/>
            <a:chExt cx="8912375" cy="3585012"/>
          </a:xfrm>
        </p:grpSpPr>
        <p:pic>
          <p:nvPicPr>
            <p:cNvPr id="21" name="Google Shape;21;g3b81681b6a2_0_723"/>
            <p:cNvPicPr preferRelativeResize="0"/>
            <p:nvPr/>
          </p:nvPicPr>
          <p:blipFill rotWithShape="1">
            <a:blip r:embed="rId3">
              <a:alphaModFix/>
            </a:blip>
            <a:srcRect r="3138" b="22082"/>
            <a:stretch/>
          </p:blipFill>
          <p:spPr>
            <a:xfrm>
              <a:off x="3276450" y="4872888"/>
              <a:ext cx="7208073" cy="198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g3b81681b6a2_0_723"/>
            <p:cNvPicPr preferRelativeResize="0"/>
            <p:nvPr/>
          </p:nvPicPr>
          <p:blipFill rotWithShape="1">
            <a:blip r:embed="rId3">
              <a:alphaModFix/>
            </a:blip>
            <a:srcRect l="5980" r="3144" b="30075"/>
            <a:stretch/>
          </p:blipFill>
          <p:spPr>
            <a:xfrm>
              <a:off x="5250750" y="5282375"/>
              <a:ext cx="5692651" cy="150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g3b81681b6a2_0_723"/>
            <p:cNvPicPr preferRelativeResize="0"/>
            <p:nvPr/>
          </p:nvPicPr>
          <p:blipFill rotWithShape="1">
            <a:blip r:embed="rId3">
              <a:alphaModFix/>
            </a:blip>
            <a:srcRect l="5980" r="3144" b="30075"/>
            <a:stretch/>
          </p:blipFill>
          <p:spPr>
            <a:xfrm>
              <a:off x="3955350" y="5358575"/>
              <a:ext cx="5692651" cy="150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g3b81681b6a2_0_7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97227" y="3273876"/>
              <a:ext cx="3491598" cy="33096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g3b81681b6a2_0_723"/>
            <p:cNvPicPr preferRelativeResize="0"/>
            <p:nvPr/>
          </p:nvPicPr>
          <p:blipFill rotWithShape="1">
            <a:blip r:embed="rId3">
              <a:alphaModFix/>
            </a:blip>
            <a:srcRect r="3138" b="30075"/>
            <a:stretch/>
          </p:blipFill>
          <p:spPr>
            <a:xfrm>
              <a:off x="6835473" y="5534250"/>
              <a:ext cx="5353352" cy="1323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g3b81681b6a2_0_723"/>
          <p:cNvSpPr/>
          <p:nvPr/>
        </p:nvSpPr>
        <p:spPr>
          <a:xfrm>
            <a:off x="8031216" y="4916849"/>
            <a:ext cx="744900" cy="744900"/>
          </a:xfrm>
          <a:prstGeom prst="ellipse">
            <a:avLst/>
          </a:prstGeom>
          <a:solidFill>
            <a:srgbClr val="1AB9FF">
              <a:alpha val="5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b81681b6a2_0_723"/>
          <p:cNvSpPr/>
          <p:nvPr/>
        </p:nvSpPr>
        <p:spPr>
          <a:xfrm>
            <a:off x="6172808" y="2443501"/>
            <a:ext cx="1602000" cy="1601700"/>
          </a:xfrm>
          <a:prstGeom prst="ellipse">
            <a:avLst/>
          </a:prstGeom>
          <a:solidFill>
            <a:srgbClr val="1AB9FF">
              <a:alpha val="3137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g3b81681b6a2_0_723"/>
          <p:cNvSpPr/>
          <p:nvPr/>
        </p:nvSpPr>
        <p:spPr>
          <a:xfrm>
            <a:off x="6744156" y="3037500"/>
            <a:ext cx="3816300" cy="2217600"/>
          </a:xfrm>
          <a:prstGeom prst="roundRect">
            <a:avLst>
              <a:gd name="adj" fmla="val 8057"/>
            </a:avLst>
          </a:prstGeom>
          <a:solidFill>
            <a:schemeClr val="lt1"/>
          </a:solidFill>
          <a:ln>
            <a:noFill/>
          </a:ln>
          <a:effectLst>
            <a:outerShdw blurRad="400051" dist="152400" dir="3720000" algn="bl" rotWithShape="0">
              <a:srgbClr val="000000">
                <a:alpha val="1137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b81681b6a2_0_723"/>
          <p:cNvSpPr/>
          <p:nvPr/>
        </p:nvSpPr>
        <p:spPr>
          <a:xfrm>
            <a:off x="6937744" y="3846772"/>
            <a:ext cx="1663200" cy="1155900"/>
          </a:xfrm>
          <a:prstGeom prst="roundRect">
            <a:avLst>
              <a:gd name="adj" fmla="val 4546"/>
            </a:avLst>
          </a:prstGeom>
          <a:solidFill>
            <a:schemeClr val="lt1"/>
          </a:solidFill>
          <a:ln>
            <a:noFill/>
          </a:ln>
          <a:effectLst>
            <a:outerShdw blurRad="323851" dist="76200" dir="3720000" algn="bl" rotWithShape="0">
              <a:srgbClr val="000000">
                <a:alpha val="549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3b81681b6a2_0_723"/>
          <p:cNvSpPr/>
          <p:nvPr/>
        </p:nvSpPr>
        <p:spPr>
          <a:xfrm>
            <a:off x="8703929" y="3846772"/>
            <a:ext cx="1663200" cy="1155900"/>
          </a:xfrm>
          <a:prstGeom prst="roundRect">
            <a:avLst>
              <a:gd name="adj" fmla="val 4546"/>
            </a:avLst>
          </a:prstGeom>
          <a:solidFill>
            <a:schemeClr val="lt1"/>
          </a:solidFill>
          <a:ln>
            <a:noFill/>
          </a:ln>
          <a:effectLst>
            <a:outerShdw blurRad="323851" dist="76200" dir="3720000" algn="bl" rotWithShape="0">
              <a:srgbClr val="000000">
                <a:alpha val="549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g3b81681b6a2_0_7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63997" y="4065700"/>
            <a:ext cx="1142625" cy="72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g3b81681b6a2_0_7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48384" y="4057628"/>
            <a:ext cx="1041525" cy="74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g3b81681b6a2_0_723"/>
          <p:cNvSpPr/>
          <p:nvPr/>
        </p:nvSpPr>
        <p:spPr>
          <a:xfrm>
            <a:off x="9955193" y="3201623"/>
            <a:ext cx="353700" cy="353700"/>
          </a:xfrm>
          <a:prstGeom prst="ellipse">
            <a:avLst/>
          </a:prstGeom>
          <a:solidFill>
            <a:srgbClr val="1AB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b81681b6a2_0_723"/>
          <p:cNvSpPr/>
          <p:nvPr/>
        </p:nvSpPr>
        <p:spPr>
          <a:xfrm>
            <a:off x="9634268" y="3201623"/>
            <a:ext cx="353700" cy="353700"/>
          </a:xfrm>
          <a:prstGeom prst="ellipse">
            <a:avLst/>
          </a:prstGeom>
          <a:solidFill>
            <a:srgbClr val="01C3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b81681b6a2_0_723"/>
          <p:cNvSpPr/>
          <p:nvPr/>
        </p:nvSpPr>
        <p:spPr>
          <a:xfrm>
            <a:off x="9313343" y="3201623"/>
            <a:ext cx="353700" cy="353700"/>
          </a:xfrm>
          <a:prstGeom prst="ellipse">
            <a:avLst/>
          </a:prstGeom>
          <a:solidFill>
            <a:srgbClr val="FCC0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b81681b6a2_0_723"/>
          <p:cNvSpPr/>
          <p:nvPr/>
        </p:nvSpPr>
        <p:spPr>
          <a:xfrm>
            <a:off x="8992417" y="3201623"/>
            <a:ext cx="353700" cy="353700"/>
          </a:xfrm>
          <a:prstGeom prst="ellipse">
            <a:avLst/>
          </a:prstGeom>
          <a:solidFill>
            <a:srgbClr val="FE5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37;g3b81681b6a2_0_723"/>
          <p:cNvGrpSpPr/>
          <p:nvPr/>
        </p:nvGrpSpPr>
        <p:grpSpPr>
          <a:xfrm>
            <a:off x="8831997" y="2157700"/>
            <a:ext cx="2314894" cy="538800"/>
            <a:chOff x="8829350" y="2157700"/>
            <a:chExt cx="2314200" cy="538800"/>
          </a:xfrm>
        </p:grpSpPr>
        <p:sp>
          <p:nvSpPr>
            <p:cNvPr id="38" name="Google Shape;38;g3b81681b6a2_0_723"/>
            <p:cNvSpPr/>
            <p:nvPr/>
          </p:nvSpPr>
          <p:spPr>
            <a:xfrm>
              <a:off x="8829350" y="2157700"/>
              <a:ext cx="2314200" cy="538800"/>
            </a:xfrm>
            <a:prstGeom prst="roundRect">
              <a:avLst>
                <a:gd name="adj" fmla="val 13460"/>
              </a:avLst>
            </a:prstGeom>
            <a:solidFill>
              <a:schemeClr val="lt1"/>
            </a:solidFill>
            <a:ln>
              <a:noFill/>
            </a:ln>
            <a:effectLst>
              <a:outerShdw blurRad="400051" dist="152400" dir="3720000" algn="bl" rotWithShape="0">
                <a:srgbClr val="000000">
                  <a:alpha val="1137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3b81681b6a2_0_723"/>
            <p:cNvSpPr/>
            <p:nvPr/>
          </p:nvSpPr>
          <p:spPr>
            <a:xfrm>
              <a:off x="8938625" y="2240950"/>
              <a:ext cx="372300" cy="372300"/>
            </a:xfrm>
            <a:prstGeom prst="ellipse">
              <a:avLst/>
            </a:prstGeom>
            <a:solidFill>
              <a:srgbClr val="9050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" name="Google Shape;40;g3b81681b6a2_0_723"/>
            <p:cNvGrpSpPr/>
            <p:nvPr/>
          </p:nvGrpSpPr>
          <p:grpSpPr>
            <a:xfrm>
              <a:off x="9421875" y="2333150"/>
              <a:ext cx="1530900" cy="201675"/>
              <a:chOff x="9421875" y="2330400"/>
              <a:chExt cx="1530900" cy="201675"/>
            </a:xfrm>
          </p:grpSpPr>
          <p:sp>
            <p:nvSpPr>
              <p:cNvPr id="41" name="Google Shape;41;g3b81681b6a2_0_723"/>
              <p:cNvSpPr/>
              <p:nvPr/>
            </p:nvSpPr>
            <p:spPr>
              <a:xfrm>
                <a:off x="9421875" y="2330400"/>
                <a:ext cx="1530900" cy="61800"/>
              </a:xfrm>
              <a:prstGeom prst="rect">
                <a:avLst/>
              </a:prstGeom>
              <a:solidFill>
                <a:srgbClr val="C1B9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C1B9B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g3b81681b6a2_0_723"/>
              <p:cNvSpPr/>
              <p:nvPr/>
            </p:nvSpPr>
            <p:spPr>
              <a:xfrm>
                <a:off x="9421875" y="2470275"/>
                <a:ext cx="1303800" cy="61800"/>
              </a:xfrm>
              <a:prstGeom prst="rect">
                <a:avLst/>
              </a:prstGeom>
              <a:solidFill>
                <a:srgbClr val="C1B9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500" b="0" i="0" u="none" strike="noStrike" cap="none">
                  <a:solidFill>
                    <a:srgbClr val="C1B9B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3" name="Google Shape;43;g3b81681b6a2_0_723"/>
          <p:cNvSpPr/>
          <p:nvPr/>
        </p:nvSpPr>
        <p:spPr>
          <a:xfrm>
            <a:off x="6937732" y="3324612"/>
            <a:ext cx="1408500" cy="107700"/>
          </a:xfrm>
          <a:prstGeom prst="roundRect">
            <a:avLst>
              <a:gd name="adj" fmla="val 38092"/>
            </a:avLst>
          </a:prstGeom>
          <a:solidFill>
            <a:srgbClr val="0176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b81681b6a2_0_723"/>
          <p:cNvSpPr txBox="1">
            <a:spLocks noGrp="1"/>
          </p:cNvSpPr>
          <p:nvPr>
            <p:ph type="ctrTitle"/>
          </p:nvPr>
        </p:nvSpPr>
        <p:spPr>
          <a:xfrm>
            <a:off x="567423" y="1670925"/>
            <a:ext cx="5374800" cy="19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35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3b81681b6a2_0_723"/>
          <p:cNvSpPr txBox="1">
            <a:spLocks noGrp="1"/>
          </p:cNvSpPr>
          <p:nvPr>
            <p:ph type="subTitle" idx="1"/>
          </p:nvPr>
        </p:nvSpPr>
        <p:spPr>
          <a:xfrm>
            <a:off x="578200" y="3638625"/>
            <a:ext cx="53748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  <a:defRPr>
                <a:solidFill>
                  <a:srgbClr val="889AC4"/>
                </a:solidFill>
              </a:defRPr>
            </a:lvl2pPr>
            <a:lvl3pPr lvl="2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>
                <a:solidFill>
                  <a:srgbClr val="889AC4"/>
                </a:solidFill>
              </a:defRPr>
            </a:lvl3pPr>
            <a:lvl4pPr lvl="3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>
                <a:solidFill>
                  <a:srgbClr val="889AC4"/>
                </a:solidFill>
              </a:defRPr>
            </a:lvl4pPr>
            <a:lvl5pPr lvl="4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>
                <a:solidFill>
                  <a:srgbClr val="889AC4"/>
                </a:solidFill>
              </a:defRPr>
            </a:lvl5pPr>
            <a:lvl6pPr lvl="5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9AC4"/>
              </a:buClr>
              <a:buSzPts val="2000"/>
              <a:buNone/>
              <a:defRPr>
                <a:solidFill>
                  <a:srgbClr val="889AC4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AC4"/>
              </a:buClr>
              <a:buSzPts val="2000"/>
              <a:buNone/>
              <a:defRPr>
                <a:solidFill>
                  <a:srgbClr val="889AC4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AC4"/>
              </a:buClr>
              <a:buSzPts val="2000"/>
              <a:buNone/>
              <a:defRPr>
                <a:solidFill>
                  <a:srgbClr val="889AC4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AC4"/>
              </a:buClr>
              <a:buSzPts val="2000"/>
              <a:buNone/>
              <a:defRPr>
                <a:solidFill>
                  <a:srgbClr val="889AC4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b81681b6a2_0_723"/>
          <p:cNvSpPr txBox="1">
            <a:spLocks noGrp="1"/>
          </p:cNvSpPr>
          <p:nvPr>
            <p:ph type="body" idx="2"/>
          </p:nvPr>
        </p:nvSpPr>
        <p:spPr>
          <a:xfrm>
            <a:off x="578200" y="4981400"/>
            <a:ext cx="5378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  <a:defRPr sz="1900" b="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Arial"/>
              <a:buNone/>
              <a:defRPr sz="15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500"/>
              <a:buFont typeface="Arial"/>
              <a:buNone/>
              <a:defRPr sz="15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g3b81681b6a2_0_723"/>
          <p:cNvSpPr txBox="1">
            <a:spLocks noGrp="1"/>
          </p:cNvSpPr>
          <p:nvPr>
            <p:ph type="body" idx="3"/>
          </p:nvPr>
        </p:nvSpPr>
        <p:spPr>
          <a:xfrm>
            <a:off x="578200" y="4675525"/>
            <a:ext cx="53781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92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4925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4925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500"/>
              <a:buNone/>
              <a:defRPr/>
            </a:lvl5pPr>
            <a:lvl6pPr marL="2743200" lvl="5" indent="-34925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pic>
        <p:nvPicPr>
          <p:cNvPr id="48" name="Google Shape;48;g3b81681b6a2_0_72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08563" y="577551"/>
            <a:ext cx="1316425" cy="27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g3b81681b6a2_0_723" descr="pasted-image.pdf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8208" y="519125"/>
            <a:ext cx="558806" cy="3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1 - Thank You - A">
  <p:cSld name="Thank You - A_1">
    <p:bg>
      <p:bgPr>
        <a:solidFill>
          <a:srgbClr val="90D0FE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81681b6a2_0_14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5FE"/>
              </a:gs>
              <a:gs pos="100000">
                <a:srgbClr val="CFE9F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g3b81681b6a2_0_14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86129" y="2355575"/>
            <a:ext cx="5833871" cy="9182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g3b81681b6a2_0_1478"/>
          <p:cNvGrpSpPr/>
          <p:nvPr/>
        </p:nvGrpSpPr>
        <p:grpSpPr>
          <a:xfrm>
            <a:off x="-491264" y="3915575"/>
            <a:ext cx="9920548" cy="3171898"/>
            <a:chOff x="-491117" y="3915575"/>
            <a:chExt cx="9917572" cy="3171898"/>
          </a:xfrm>
        </p:grpSpPr>
        <p:pic>
          <p:nvPicPr>
            <p:cNvPr id="90" name="Google Shape;90;g3b81681b6a2_0_147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15">
              <a:off x="6487939" y="4519132"/>
              <a:ext cx="2938512" cy="18945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g3b81681b6a2_0_147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-13" flipH="1">
              <a:off x="-491112" y="3915582"/>
              <a:ext cx="3874674" cy="24980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g3b81681b6a2_0_147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flipH="1">
              <a:off x="1465642" y="4589374"/>
              <a:ext cx="5256433" cy="24980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g3b81681b6a2_0_1478"/>
          <p:cNvGrpSpPr/>
          <p:nvPr/>
        </p:nvGrpSpPr>
        <p:grpSpPr>
          <a:xfrm>
            <a:off x="152365" y="2951642"/>
            <a:ext cx="11516654" cy="3893148"/>
            <a:chOff x="-75" y="7087472"/>
            <a:chExt cx="11513200" cy="4318522"/>
          </a:xfrm>
        </p:grpSpPr>
        <p:sp>
          <p:nvSpPr>
            <p:cNvPr id="94" name="Google Shape;94;g3b81681b6a2_0_1478"/>
            <p:cNvSpPr/>
            <p:nvPr/>
          </p:nvSpPr>
          <p:spPr>
            <a:xfrm>
              <a:off x="6441220" y="9556911"/>
              <a:ext cx="349800" cy="1848900"/>
            </a:xfrm>
            <a:prstGeom prst="roundRect">
              <a:avLst>
                <a:gd name="adj" fmla="val 11533"/>
              </a:avLst>
            </a:prstGeom>
            <a:solidFill>
              <a:srgbClr val="90D0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b81681b6a2_0_1478"/>
            <p:cNvSpPr/>
            <p:nvPr/>
          </p:nvSpPr>
          <p:spPr>
            <a:xfrm>
              <a:off x="5850957" y="9061940"/>
              <a:ext cx="349800" cy="2343900"/>
            </a:xfrm>
            <a:prstGeom prst="roundRect">
              <a:avLst>
                <a:gd name="adj" fmla="val 11533"/>
              </a:avLst>
            </a:prstGeom>
            <a:solidFill>
              <a:srgbClr val="90D0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b81681b6a2_0_1478"/>
            <p:cNvSpPr/>
            <p:nvPr/>
          </p:nvSpPr>
          <p:spPr>
            <a:xfrm>
              <a:off x="7031483" y="9567559"/>
              <a:ext cx="349800" cy="1838100"/>
            </a:xfrm>
            <a:prstGeom prst="roundRect">
              <a:avLst>
                <a:gd name="adj" fmla="val 11533"/>
              </a:avLst>
            </a:prstGeom>
            <a:solidFill>
              <a:srgbClr val="90D0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b81681b6a2_0_1478"/>
            <p:cNvSpPr/>
            <p:nvPr/>
          </p:nvSpPr>
          <p:spPr>
            <a:xfrm>
              <a:off x="4670430" y="9737693"/>
              <a:ext cx="349800" cy="1668000"/>
            </a:xfrm>
            <a:prstGeom prst="roundRect">
              <a:avLst>
                <a:gd name="adj" fmla="val 11533"/>
              </a:avLst>
            </a:prstGeom>
            <a:solidFill>
              <a:srgbClr val="90D0FE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3b81681b6a2_0_1478"/>
            <p:cNvSpPr/>
            <p:nvPr/>
          </p:nvSpPr>
          <p:spPr>
            <a:xfrm>
              <a:off x="5260693" y="9557010"/>
              <a:ext cx="349800" cy="1848900"/>
            </a:xfrm>
            <a:prstGeom prst="roundRect">
              <a:avLst>
                <a:gd name="adj" fmla="val 11533"/>
              </a:avLst>
            </a:prstGeom>
            <a:solidFill>
              <a:srgbClr val="90D0FE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b81681b6a2_0_1478"/>
            <p:cNvSpPr/>
            <p:nvPr/>
          </p:nvSpPr>
          <p:spPr>
            <a:xfrm>
              <a:off x="7621746" y="9829859"/>
              <a:ext cx="349800" cy="1575900"/>
            </a:xfrm>
            <a:prstGeom prst="roundRect">
              <a:avLst>
                <a:gd name="adj" fmla="val 10231"/>
              </a:avLst>
            </a:prstGeom>
            <a:solidFill>
              <a:srgbClr val="90D0FE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b81681b6a2_0_1478"/>
            <p:cNvSpPr/>
            <p:nvPr/>
          </p:nvSpPr>
          <p:spPr>
            <a:xfrm>
              <a:off x="8212009" y="9414338"/>
              <a:ext cx="349800" cy="1991400"/>
            </a:xfrm>
            <a:prstGeom prst="roundRect">
              <a:avLst>
                <a:gd name="adj" fmla="val 11533"/>
              </a:avLst>
            </a:prstGeom>
            <a:solidFill>
              <a:srgbClr val="90D0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b81681b6a2_0_1478"/>
            <p:cNvSpPr/>
            <p:nvPr/>
          </p:nvSpPr>
          <p:spPr>
            <a:xfrm>
              <a:off x="8802272" y="9612644"/>
              <a:ext cx="349800" cy="1793100"/>
            </a:xfrm>
            <a:prstGeom prst="roundRect">
              <a:avLst>
                <a:gd name="adj" fmla="val 11533"/>
              </a:avLst>
            </a:prstGeom>
            <a:solidFill>
              <a:srgbClr val="90D0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b81681b6a2_0_1478"/>
            <p:cNvSpPr/>
            <p:nvPr/>
          </p:nvSpPr>
          <p:spPr>
            <a:xfrm>
              <a:off x="9392536" y="9414279"/>
              <a:ext cx="349800" cy="1991400"/>
            </a:xfrm>
            <a:prstGeom prst="roundRect">
              <a:avLst>
                <a:gd name="adj" fmla="val 11533"/>
              </a:avLst>
            </a:prstGeom>
            <a:solidFill>
              <a:srgbClr val="90D0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g3b81681b6a2_0_1478"/>
            <p:cNvSpPr/>
            <p:nvPr/>
          </p:nvSpPr>
          <p:spPr>
            <a:xfrm>
              <a:off x="9982799" y="9491773"/>
              <a:ext cx="349800" cy="1914000"/>
            </a:xfrm>
            <a:prstGeom prst="roundRect">
              <a:avLst>
                <a:gd name="adj" fmla="val 11533"/>
              </a:avLst>
            </a:prstGeom>
            <a:solidFill>
              <a:srgbClr val="90D0FE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b81681b6a2_0_1478"/>
            <p:cNvSpPr/>
            <p:nvPr/>
          </p:nvSpPr>
          <p:spPr>
            <a:xfrm>
              <a:off x="10573062" y="9491742"/>
              <a:ext cx="349800" cy="1914000"/>
            </a:xfrm>
            <a:prstGeom prst="roundRect">
              <a:avLst>
                <a:gd name="adj" fmla="val 11533"/>
              </a:avLst>
            </a:prstGeom>
            <a:solidFill>
              <a:srgbClr val="90D0FE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b81681b6a2_0_1478"/>
            <p:cNvSpPr/>
            <p:nvPr/>
          </p:nvSpPr>
          <p:spPr>
            <a:xfrm>
              <a:off x="4080167" y="9243163"/>
              <a:ext cx="349800" cy="2162700"/>
            </a:xfrm>
            <a:prstGeom prst="roundRect">
              <a:avLst>
                <a:gd name="adj" fmla="val 11533"/>
              </a:avLst>
            </a:prstGeom>
            <a:solidFill>
              <a:srgbClr val="90D0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b81681b6a2_0_1478"/>
            <p:cNvSpPr/>
            <p:nvPr/>
          </p:nvSpPr>
          <p:spPr>
            <a:xfrm>
              <a:off x="3489904" y="9884219"/>
              <a:ext cx="349800" cy="1521600"/>
            </a:xfrm>
            <a:prstGeom prst="roundRect">
              <a:avLst>
                <a:gd name="adj" fmla="val 11533"/>
              </a:avLst>
            </a:prstGeom>
            <a:solidFill>
              <a:srgbClr val="90D0FE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b81681b6a2_0_1478"/>
            <p:cNvSpPr/>
            <p:nvPr/>
          </p:nvSpPr>
          <p:spPr>
            <a:xfrm>
              <a:off x="2899641" y="8975728"/>
              <a:ext cx="349800" cy="2430000"/>
            </a:xfrm>
            <a:prstGeom prst="roundRect">
              <a:avLst>
                <a:gd name="adj" fmla="val 11533"/>
              </a:avLst>
            </a:prstGeom>
            <a:solidFill>
              <a:srgbClr val="90D0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b81681b6a2_0_1478"/>
            <p:cNvSpPr/>
            <p:nvPr/>
          </p:nvSpPr>
          <p:spPr>
            <a:xfrm>
              <a:off x="2309378" y="8448965"/>
              <a:ext cx="349800" cy="2956800"/>
            </a:xfrm>
            <a:prstGeom prst="roundRect">
              <a:avLst>
                <a:gd name="adj" fmla="val 11533"/>
              </a:avLst>
            </a:prstGeom>
            <a:solidFill>
              <a:srgbClr val="90D0FE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b81681b6a2_0_1478"/>
            <p:cNvSpPr/>
            <p:nvPr/>
          </p:nvSpPr>
          <p:spPr>
            <a:xfrm>
              <a:off x="1128851" y="7676189"/>
              <a:ext cx="349800" cy="3729600"/>
            </a:xfrm>
            <a:prstGeom prst="roundRect">
              <a:avLst>
                <a:gd name="adj" fmla="val 11533"/>
              </a:avLst>
            </a:prstGeom>
            <a:solidFill>
              <a:srgbClr val="90D0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b81681b6a2_0_1478"/>
            <p:cNvSpPr/>
            <p:nvPr/>
          </p:nvSpPr>
          <p:spPr>
            <a:xfrm>
              <a:off x="1719114" y="8096994"/>
              <a:ext cx="349800" cy="3309000"/>
            </a:xfrm>
            <a:prstGeom prst="roundRect">
              <a:avLst>
                <a:gd name="adj" fmla="val 11533"/>
              </a:avLst>
            </a:prstGeom>
            <a:solidFill>
              <a:srgbClr val="90D0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b81681b6a2_0_1478"/>
            <p:cNvSpPr/>
            <p:nvPr/>
          </p:nvSpPr>
          <p:spPr>
            <a:xfrm>
              <a:off x="564388" y="7087472"/>
              <a:ext cx="324000" cy="4318200"/>
            </a:xfrm>
            <a:prstGeom prst="roundRect">
              <a:avLst>
                <a:gd name="adj" fmla="val 11533"/>
              </a:avLst>
            </a:prstGeom>
            <a:solidFill>
              <a:srgbClr val="90D0FE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b81681b6a2_0_1478"/>
            <p:cNvSpPr/>
            <p:nvPr/>
          </p:nvSpPr>
          <p:spPr>
            <a:xfrm>
              <a:off x="11163325" y="9612578"/>
              <a:ext cx="349800" cy="1793100"/>
            </a:xfrm>
            <a:prstGeom prst="roundRect">
              <a:avLst>
                <a:gd name="adj" fmla="val 11533"/>
              </a:avLst>
            </a:prstGeom>
            <a:solidFill>
              <a:srgbClr val="90D0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b81681b6a2_0_1478"/>
            <p:cNvSpPr/>
            <p:nvPr/>
          </p:nvSpPr>
          <p:spPr>
            <a:xfrm>
              <a:off x="-75" y="7856646"/>
              <a:ext cx="324000" cy="3549000"/>
            </a:xfrm>
            <a:prstGeom prst="roundRect">
              <a:avLst>
                <a:gd name="adj" fmla="val 11533"/>
              </a:avLst>
            </a:prstGeom>
            <a:solidFill>
              <a:srgbClr val="90D0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g3b81681b6a2_0_1478"/>
          <p:cNvGrpSpPr/>
          <p:nvPr/>
        </p:nvGrpSpPr>
        <p:grpSpPr>
          <a:xfrm>
            <a:off x="-1" y="3273876"/>
            <a:ext cx="12192482" cy="3585012"/>
            <a:chOff x="-1" y="3273876"/>
            <a:chExt cx="12188826" cy="3585012"/>
          </a:xfrm>
        </p:grpSpPr>
        <p:pic>
          <p:nvPicPr>
            <p:cNvPr id="115" name="Google Shape;115;g3b81681b6a2_0_1478"/>
            <p:cNvPicPr preferRelativeResize="0"/>
            <p:nvPr/>
          </p:nvPicPr>
          <p:blipFill rotWithShape="1">
            <a:blip r:embed="rId5">
              <a:alphaModFix/>
            </a:blip>
            <a:srcRect r="3138" b="22082"/>
            <a:stretch/>
          </p:blipFill>
          <p:spPr>
            <a:xfrm>
              <a:off x="3276450" y="4872888"/>
              <a:ext cx="7208073" cy="198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g3b81681b6a2_0_1478"/>
            <p:cNvPicPr preferRelativeResize="0"/>
            <p:nvPr/>
          </p:nvPicPr>
          <p:blipFill rotWithShape="1">
            <a:blip r:embed="rId5">
              <a:alphaModFix/>
            </a:blip>
            <a:srcRect l="5980" r="3144" b="30075"/>
            <a:stretch/>
          </p:blipFill>
          <p:spPr>
            <a:xfrm>
              <a:off x="5250750" y="5282375"/>
              <a:ext cx="5692651" cy="150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g3b81681b6a2_0_1478"/>
            <p:cNvPicPr preferRelativeResize="0"/>
            <p:nvPr/>
          </p:nvPicPr>
          <p:blipFill rotWithShape="1">
            <a:blip r:embed="rId5">
              <a:alphaModFix/>
            </a:blip>
            <a:srcRect l="5980" r="3144" b="30075"/>
            <a:stretch/>
          </p:blipFill>
          <p:spPr>
            <a:xfrm>
              <a:off x="3955350" y="5358575"/>
              <a:ext cx="5692651" cy="150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g3b81681b6a2_0_147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97227" y="3273876"/>
              <a:ext cx="3491598" cy="33096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g3b81681b6a2_0_1478"/>
            <p:cNvPicPr preferRelativeResize="0"/>
            <p:nvPr/>
          </p:nvPicPr>
          <p:blipFill rotWithShape="1">
            <a:blip r:embed="rId5">
              <a:alphaModFix/>
            </a:blip>
            <a:srcRect t="-11353" r="3138" b="27256"/>
            <a:stretch/>
          </p:blipFill>
          <p:spPr>
            <a:xfrm flipH="1">
              <a:off x="-1" y="5486402"/>
              <a:ext cx="4599326" cy="1367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g3b81681b6a2_0_1478"/>
            <p:cNvPicPr preferRelativeResize="0"/>
            <p:nvPr/>
          </p:nvPicPr>
          <p:blipFill rotWithShape="1">
            <a:blip r:embed="rId5">
              <a:alphaModFix/>
            </a:blip>
            <a:srcRect r="3138" b="30075"/>
            <a:stretch/>
          </p:blipFill>
          <p:spPr>
            <a:xfrm>
              <a:off x="6835473" y="5534250"/>
              <a:ext cx="5353352" cy="1323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1" name="Google Shape;121;g3b81681b6a2_0_147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25779" y="3622504"/>
            <a:ext cx="1159389" cy="241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b81681b6a2_0_1478" descr="pasted-image.pdf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06405" y="3571049"/>
            <a:ext cx="492146" cy="34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">
  <p:cSld name="Custom Layout 1 3">
    <p:bg>
      <p:bgPr>
        <a:solidFill>
          <a:srgbClr val="0D9DDA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8333" y="548863"/>
            <a:ext cx="2528264" cy="90923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"/>
          <p:cNvSpPr/>
          <p:nvPr/>
        </p:nvSpPr>
        <p:spPr>
          <a:xfrm>
            <a:off x="6270267" y="-96033"/>
            <a:ext cx="5927603" cy="6059631"/>
          </a:xfrm>
          <a:custGeom>
            <a:avLst/>
            <a:gdLst/>
            <a:ahLst/>
            <a:cxnLst/>
            <a:rect l="l" t="t" r="r" b="b"/>
            <a:pathLst>
              <a:path w="41582" h="41849" extrusionOk="0">
                <a:moveTo>
                  <a:pt x="0" y="0"/>
                </a:moveTo>
                <a:cubicBezTo>
                  <a:pt x="3997" y="21081"/>
                  <a:pt x="20546" y="37727"/>
                  <a:pt x="41581" y="41849"/>
                </a:cubicBezTo>
                <a:lnTo>
                  <a:pt x="4158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 txBox="1">
            <a:spLocks noGrp="1"/>
          </p:cNvSpPr>
          <p:nvPr>
            <p:ph type="title"/>
          </p:nvPr>
        </p:nvSpPr>
        <p:spPr>
          <a:xfrm>
            <a:off x="292766" y="1616800"/>
            <a:ext cx="4734933" cy="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"/>
              <a:buNone/>
              <a:defRPr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"/>
              <a:buNone/>
              <a:defRPr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"/>
              <a:buNone/>
              <a:defRPr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"/>
              <a:buNone/>
              <a:defRPr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"/>
              <a:buNone/>
              <a:defRPr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"/>
              <a:buNone/>
              <a:defRPr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"/>
              <a:buNone/>
              <a:defRPr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"/>
              <a:buNone/>
              <a:defRPr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Poppins"/>
              <a:buNone/>
              <a:defRPr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5" name="Google Shape;135;p9"/>
          <p:cNvSpPr txBox="1">
            <a:spLocks noGrp="1"/>
          </p:cNvSpPr>
          <p:nvPr>
            <p:ph type="body" idx="1"/>
          </p:nvPr>
        </p:nvSpPr>
        <p:spPr>
          <a:xfrm>
            <a:off x="358333" y="3068000"/>
            <a:ext cx="5980858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Medium"/>
              <a:buChar char="●"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L="914400" lvl="1" indent="-3492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Medium"/>
              <a:buChar char="○"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L="1371600" lvl="2" indent="-3492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Medium"/>
              <a:buChar char="■"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L="1828800" lvl="3" indent="-3492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Medium"/>
              <a:buChar char="●"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L="2286000" lvl="4" indent="-3492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Medium"/>
              <a:buChar char="○"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L="2743200" lvl="5" indent="-3492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Medium"/>
              <a:buChar char="■"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L="3200400" lvl="6" indent="-3492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Medium"/>
              <a:buChar char="●"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L="3657600" lvl="7" indent="-3492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Medium"/>
              <a:buChar char="○"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L="4114800" lvl="8" indent="-3492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 Medium"/>
              <a:buChar char="■"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9" name="Google Shape;13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6" name="Google Shape;166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5" name="Google Shape;185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86" name="Google Shape;1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87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b81681b6a2_0_0"/>
          <p:cNvSpPr txBox="1">
            <a:spLocks noGrp="1"/>
          </p:cNvSpPr>
          <p:nvPr>
            <p:ph type="ctrTitle"/>
          </p:nvPr>
        </p:nvSpPr>
        <p:spPr>
          <a:xfrm>
            <a:off x="500562" y="1617412"/>
            <a:ext cx="5266735" cy="19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 sz="1800" dirty="0">
                <a:solidFill>
                  <a:srgbClr val="0B5CAB"/>
                </a:solidFill>
              </a:rPr>
              <a:t>Session: </a:t>
            </a:r>
            <a:r>
              <a:rPr lang="en-IN" sz="2000" b="0" dirty="0"/>
              <a:t>Tableau MCP Server in Enterprise</a:t>
            </a:r>
            <a:br>
              <a:rPr lang="en-IN" sz="2000" b="0" dirty="0"/>
            </a:br>
            <a:endParaRPr sz="1800" dirty="0">
              <a:solidFill>
                <a:srgbClr val="0B5CAB"/>
              </a:solidFill>
            </a:endParaRPr>
          </a:p>
        </p:txBody>
      </p:sp>
      <p:sp>
        <p:nvSpPr>
          <p:cNvPr id="922" name="Google Shape;922;g3b81681b6a2_0_0"/>
          <p:cNvSpPr txBox="1">
            <a:spLocks noGrp="1"/>
          </p:cNvSpPr>
          <p:nvPr>
            <p:ph type="subTitle" idx="1"/>
          </p:nvPr>
        </p:nvSpPr>
        <p:spPr>
          <a:xfrm>
            <a:off x="578197" y="4066533"/>
            <a:ext cx="51891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Welcome, everyone!!</a:t>
            </a:r>
            <a:endParaRPr/>
          </a:p>
        </p:txBody>
      </p:sp>
      <p:sp>
        <p:nvSpPr>
          <p:cNvPr id="923" name="Google Shape;923;g3b81681b6a2_0_0"/>
          <p:cNvSpPr txBox="1">
            <a:spLocks noGrp="1"/>
          </p:cNvSpPr>
          <p:nvPr>
            <p:ph type="body" idx="2"/>
          </p:nvPr>
        </p:nvSpPr>
        <p:spPr>
          <a:xfrm>
            <a:off x="578200" y="4981400"/>
            <a:ext cx="5378100" cy="45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None/>
            </a:pPr>
            <a:r>
              <a:rPr lang="en-US" sz="2400" dirty="0"/>
              <a:t>June 27, 2026</a:t>
            </a:r>
            <a:endParaRPr sz="2400" dirty="0"/>
          </a:p>
        </p:txBody>
      </p:sp>
      <p:pic>
        <p:nvPicPr>
          <p:cNvPr id="924" name="Google Shape;924;g3b81681b6a2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562" y="1286975"/>
            <a:ext cx="2873010" cy="969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3AAB63-DA66-BC1E-E9F3-D8CBA2B86A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590" b="23151"/>
          <a:stretch>
            <a:fillRect/>
          </a:stretch>
        </p:blipFill>
        <p:spPr>
          <a:xfrm>
            <a:off x="5392546" y="174074"/>
            <a:ext cx="2132519" cy="2087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243840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67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26720" y="609600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4533" dirty="0"/>
          </a:p>
        </p:txBody>
      </p:sp>
      <p:sp>
        <p:nvSpPr>
          <p:cNvPr id="4" name="Shape 2"/>
          <p:cNvSpPr/>
          <p:nvPr/>
        </p:nvSpPr>
        <p:spPr>
          <a:xfrm>
            <a:off x="426720" y="1645920"/>
            <a:ext cx="11338560" cy="755904"/>
          </a:xfrm>
          <a:prstGeom prst="roundRect">
            <a:avLst>
              <a:gd name="adj" fmla="val 11290"/>
            </a:avLst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09600" y="1682496"/>
            <a:ext cx="1109472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i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spend hours context-switching between AI chat tools and Tableau dashboards — there is a better way.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6720" y="2584704"/>
            <a:ext cx="3657600" cy="28041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240">
            <a:solidFill>
              <a:srgbClr val="AED6F1"/>
            </a:solidFill>
            <a:prstDash val="solid"/>
          </a:ln>
          <a:effectLst>
            <a:outerShdw blurRad="76200" dist="25400" dir="2700000" algn="bl" rotWithShape="0">
              <a:srgbClr val="C0D8F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09600" y="2682240"/>
            <a:ext cx="670560" cy="670560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12" y="2795452"/>
            <a:ext cx="431944" cy="4319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3024" y="3438144"/>
            <a:ext cx="33893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AI Tools</a:t>
            </a:r>
            <a:endParaRPr lang="en-US" sz="1733" dirty="0"/>
          </a:p>
        </p:txBody>
      </p:sp>
      <p:sp>
        <p:nvSpPr>
          <p:cNvPr id="10" name="Text 7"/>
          <p:cNvSpPr/>
          <p:nvPr/>
        </p:nvSpPr>
        <p:spPr>
          <a:xfrm>
            <a:off x="573024" y="3950208"/>
            <a:ext cx="3389376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are widely available but cannot directly access Tableau data — users copy-paste numbers by hand</a:t>
            </a:r>
            <a:endParaRPr lang="en-US" sz="1533" dirty="0"/>
          </a:p>
        </p:txBody>
      </p:sp>
      <p:sp>
        <p:nvSpPr>
          <p:cNvPr id="11" name="Shape 8"/>
          <p:cNvSpPr/>
          <p:nvPr/>
        </p:nvSpPr>
        <p:spPr>
          <a:xfrm>
            <a:off x="4303776" y="2584704"/>
            <a:ext cx="3657600" cy="28041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240">
            <a:solidFill>
              <a:srgbClr val="AED6F1"/>
            </a:solidFill>
            <a:prstDash val="solid"/>
          </a:ln>
          <a:effectLst>
            <a:outerShdw blurRad="76200" dist="25400" dir="2700000" algn="bl" rotWithShape="0">
              <a:srgbClr val="C0D8F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486656" y="2682240"/>
            <a:ext cx="670560" cy="670560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868" y="2795452"/>
            <a:ext cx="431944" cy="4319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50080" y="3438144"/>
            <a:ext cx="33893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Duplication</a:t>
            </a:r>
            <a:endParaRPr lang="en-US" sz="1733" dirty="0"/>
          </a:p>
        </p:txBody>
      </p:sp>
      <p:sp>
        <p:nvSpPr>
          <p:cNvPr id="15" name="Text 11"/>
          <p:cNvSpPr/>
          <p:nvPr/>
        </p:nvSpPr>
        <p:spPr>
          <a:xfrm>
            <a:off x="4450080" y="3950208"/>
            <a:ext cx="3389376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duplicate datasets in external tools, leading to inconsistency and increased storage cost</a:t>
            </a:r>
            <a:endParaRPr lang="en-US" sz="1533" dirty="0"/>
          </a:p>
        </p:txBody>
      </p:sp>
      <p:sp>
        <p:nvSpPr>
          <p:cNvPr id="16" name="Shape 12"/>
          <p:cNvSpPr/>
          <p:nvPr/>
        </p:nvSpPr>
        <p:spPr>
          <a:xfrm>
            <a:off x="8180832" y="2584704"/>
            <a:ext cx="3657600" cy="28041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240">
            <a:solidFill>
              <a:srgbClr val="AED6F1"/>
            </a:solidFill>
            <a:prstDash val="solid"/>
          </a:ln>
          <a:effectLst>
            <a:outerShdw blurRad="76200" dist="25400" dir="2700000" algn="bl" rotWithShape="0">
              <a:srgbClr val="C0D8F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363712" y="2682240"/>
            <a:ext cx="670560" cy="670560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924" y="2795452"/>
            <a:ext cx="431944" cy="4319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7136" y="3438144"/>
            <a:ext cx="33893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Friction</a:t>
            </a:r>
            <a:endParaRPr lang="en-US" sz="1733" dirty="0"/>
          </a:p>
        </p:txBody>
      </p:sp>
      <p:sp>
        <p:nvSpPr>
          <p:cNvPr id="20" name="Text 15"/>
          <p:cNvSpPr/>
          <p:nvPr/>
        </p:nvSpPr>
        <p:spPr>
          <a:xfrm>
            <a:off x="8327136" y="3950208"/>
            <a:ext cx="3389376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want natural language answers, not SQL queries or manual dashboard filters</a:t>
            </a:r>
            <a:endParaRPr lang="en-US" sz="1533" dirty="0"/>
          </a:p>
        </p:txBody>
      </p:sp>
      <p:sp>
        <p:nvSpPr>
          <p:cNvPr id="23" name="Text 16"/>
          <p:cNvSpPr/>
          <p:nvPr/>
        </p:nvSpPr>
        <p:spPr>
          <a:xfrm>
            <a:off x="365760" y="636422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Mishra  |  Bengaluru Tableau User Group  |  June 2026</a:t>
            </a:r>
            <a:endParaRPr lang="en-US" sz="13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243840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67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TABLEAU MCP?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26720" y="609600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Tableau MCP?</a:t>
            </a:r>
            <a:endParaRPr lang="en-US" sz="4533" dirty="0"/>
          </a:p>
        </p:txBody>
      </p:sp>
      <p:sp>
        <p:nvSpPr>
          <p:cNvPr id="4" name="Shape 2"/>
          <p:cNvSpPr/>
          <p:nvPr/>
        </p:nvSpPr>
        <p:spPr>
          <a:xfrm>
            <a:off x="426720" y="1645920"/>
            <a:ext cx="11338560" cy="731520"/>
          </a:xfrm>
          <a:prstGeom prst="roundRect">
            <a:avLst>
              <a:gd name="adj" fmla="val 11667"/>
            </a:avLst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09600" y="1682496"/>
            <a:ext cx="11094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i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bridge that allows MCP-compatible AI tools to query live Tableau data using natural language.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26720" y="256032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867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" y="3133344"/>
            <a:ext cx="341376" cy="3413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108960"/>
            <a:ext cx="51206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= Model Context Protocol — the standard for AI-tool integration</a:t>
            </a:r>
            <a:endParaRPr lang="en-US" sz="1667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" y="3767328"/>
            <a:ext cx="341376" cy="3413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742944"/>
            <a:ext cx="51206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Exposes: VizQL Data Service, Metadata API, Tableau REST APIs</a:t>
            </a:r>
            <a:endParaRPr lang="en-US" sz="1667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" y="4401312"/>
            <a:ext cx="341376" cy="3413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376928"/>
            <a:ext cx="51206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with: Claude Desktop, MCP Inspector, VS Code Copilot, Copilot Studio</a:t>
            </a:r>
            <a:endParaRPr lang="en-US" sz="1667" dirty="0"/>
          </a:p>
        </p:txBody>
      </p:sp>
      <p:sp>
        <p:nvSpPr>
          <p:cNvPr id="13" name="Text 8"/>
          <p:cNvSpPr/>
          <p:nvPr/>
        </p:nvSpPr>
        <p:spPr>
          <a:xfrm>
            <a:off x="6522720" y="2560320"/>
            <a:ext cx="5303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867" dirty="0"/>
          </a:p>
        </p:txBody>
      </p:sp>
      <p:sp>
        <p:nvSpPr>
          <p:cNvPr id="14" name="Shape 9"/>
          <p:cNvSpPr/>
          <p:nvPr/>
        </p:nvSpPr>
        <p:spPr>
          <a:xfrm>
            <a:off x="6522720" y="3108960"/>
            <a:ext cx="1706880" cy="1682496"/>
          </a:xfrm>
          <a:prstGeom prst="roundRect">
            <a:avLst>
              <a:gd name="adj" fmla="val 7246"/>
            </a:avLst>
          </a:prstGeom>
          <a:solidFill>
            <a:srgbClr val="EBF5FB"/>
          </a:solidFill>
          <a:ln w="190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0" y="3194304"/>
            <a:ext cx="609600" cy="609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83680" y="3864864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Client</a:t>
            </a: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6583680" y="4194048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Copilot</a:t>
            </a:r>
            <a:endParaRPr lang="en-US" sz="1267" dirty="0"/>
          </a:p>
        </p:txBody>
      </p:sp>
      <p:sp>
        <p:nvSpPr>
          <p:cNvPr id="19" name="Shape 12"/>
          <p:cNvSpPr/>
          <p:nvPr/>
        </p:nvSpPr>
        <p:spPr>
          <a:xfrm>
            <a:off x="8412480" y="3108960"/>
            <a:ext cx="1706880" cy="1682496"/>
          </a:xfrm>
          <a:prstGeom prst="roundRect">
            <a:avLst>
              <a:gd name="adj" fmla="val 7246"/>
            </a:avLst>
          </a:prstGeom>
          <a:solidFill>
            <a:srgbClr val="EBF5FB"/>
          </a:solidFill>
          <a:ln w="1905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3194304"/>
            <a:ext cx="609600" cy="609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473440" y="3864864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8473440" y="4194048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on VM</a:t>
            </a:r>
            <a:endParaRPr lang="en-US" sz="1267" dirty="0"/>
          </a:p>
        </p:txBody>
      </p:sp>
      <p:sp>
        <p:nvSpPr>
          <p:cNvPr id="24" name="Shape 15"/>
          <p:cNvSpPr/>
          <p:nvPr/>
        </p:nvSpPr>
        <p:spPr>
          <a:xfrm>
            <a:off x="10302240" y="3108960"/>
            <a:ext cx="1706880" cy="1682496"/>
          </a:xfrm>
          <a:prstGeom prst="roundRect">
            <a:avLst>
              <a:gd name="adj" fmla="val 7246"/>
            </a:avLst>
          </a:prstGeom>
          <a:solidFill>
            <a:srgbClr val="EBF5FB"/>
          </a:solidFill>
          <a:ln w="190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0880" y="3194304"/>
            <a:ext cx="609600" cy="609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363200" y="3864864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Cloud</a:t>
            </a:r>
            <a:endParaRPr lang="en-US" dirty="0"/>
          </a:p>
        </p:txBody>
      </p:sp>
      <p:sp>
        <p:nvSpPr>
          <p:cNvPr id="27" name="Text 17"/>
          <p:cNvSpPr/>
          <p:nvPr/>
        </p:nvSpPr>
        <p:spPr>
          <a:xfrm>
            <a:off x="10363200" y="4194048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1267" dirty="0"/>
          </a:p>
        </p:txBody>
      </p:sp>
      <p:sp>
        <p:nvSpPr>
          <p:cNvPr id="30" name="Text 18"/>
          <p:cNvSpPr/>
          <p:nvPr/>
        </p:nvSpPr>
        <p:spPr>
          <a:xfrm>
            <a:off x="365760" y="636422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Mishra  |  Bengaluru Tableau User Group  |  June 2026</a:t>
            </a:r>
            <a:endParaRPr lang="en-US" sz="1333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896" y="3779520"/>
            <a:ext cx="235128" cy="316992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0656" y="3779520"/>
            <a:ext cx="235128" cy="3169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243840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67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26720" y="609600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Business Value</a:t>
            </a:r>
            <a:endParaRPr lang="en-US" sz="4533" dirty="0"/>
          </a:p>
        </p:txBody>
      </p:sp>
      <p:sp>
        <p:nvSpPr>
          <p:cNvPr id="4" name="Shape 2"/>
          <p:cNvSpPr/>
          <p:nvPr/>
        </p:nvSpPr>
        <p:spPr>
          <a:xfrm>
            <a:off x="426720" y="1645920"/>
            <a:ext cx="11338560" cy="633984"/>
          </a:xfrm>
          <a:prstGeom prst="roundRect">
            <a:avLst>
              <a:gd name="adj" fmla="val 13462"/>
            </a:avLst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09600" y="1682496"/>
            <a:ext cx="109728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Tableau data into AI-queryable assets without new pipelines.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426720" y="2462784"/>
            <a:ext cx="3657600" cy="156057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63500" dist="25400" dir="2700000" algn="bl" rotWithShape="0">
              <a:srgbClr val="C0D8F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3024" y="2609088"/>
            <a:ext cx="585216" cy="585216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731008"/>
            <a:ext cx="341376" cy="3413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55776" y="2584704"/>
            <a:ext cx="268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733" dirty="0"/>
          </a:p>
        </p:txBody>
      </p:sp>
      <p:sp>
        <p:nvSpPr>
          <p:cNvPr id="10" name="Text 7"/>
          <p:cNvSpPr/>
          <p:nvPr/>
        </p:nvSpPr>
        <p:spPr>
          <a:xfrm>
            <a:off x="573024" y="3194304"/>
            <a:ext cx="338937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existing datasets, avoid duplication across tools</a:t>
            </a:r>
            <a:endParaRPr lang="en-US" sz="1533" dirty="0"/>
          </a:p>
        </p:txBody>
      </p:sp>
      <p:sp>
        <p:nvSpPr>
          <p:cNvPr id="11" name="Shape 8"/>
          <p:cNvSpPr/>
          <p:nvPr/>
        </p:nvSpPr>
        <p:spPr>
          <a:xfrm>
            <a:off x="4303776" y="2462784"/>
            <a:ext cx="3657600" cy="156057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63500" dist="25400" dir="2700000" algn="bl" rotWithShape="0">
              <a:srgbClr val="C0D8F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450080" y="2609088"/>
            <a:ext cx="585216" cy="585216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731008"/>
            <a:ext cx="341376" cy="3413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32832" y="2584704"/>
            <a:ext cx="268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733" dirty="0"/>
          </a:p>
        </p:txBody>
      </p:sp>
      <p:sp>
        <p:nvSpPr>
          <p:cNvPr id="15" name="Text 11"/>
          <p:cNvSpPr/>
          <p:nvPr/>
        </p:nvSpPr>
        <p:spPr>
          <a:xfrm>
            <a:off x="4450080" y="3194304"/>
            <a:ext cx="338937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as dashboards — single source of truth</a:t>
            </a:r>
            <a:endParaRPr lang="en-US" sz="1533" dirty="0"/>
          </a:p>
        </p:txBody>
      </p:sp>
      <p:sp>
        <p:nvSpPr>
          <p:cNvPr id="16" name="Shape 12"/>
          <p:cNvSpPr/>
          <p:nvPr/>
        </p:nvSpPr>
        <p:spPr>
          <a:xfrm>
            <a:off x="8180832" y="2462784"/>
            <a:ext cx="3657600" cy="156057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63500" dist="25400" dir="2700000" algn="bl" rotWithShape="0">
              <a:srgbClr val="C0D8F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327136" y="2609088"/>
            <a:ext cx="585216" cy="585216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2731008"/>
            <a:ext cx="341376" cy="3413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09888" y="2584704"/>
            <a:ext cx="268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733" dirty="0"/>
          </a:p>
        </p:txBody>
      </p:sp>
      <p:sp>
        <p:nvSpPr>
          <p:cNvPr id="20" name="Text 15"/>
          <p:cNvSpPr/>
          <p:nvPr/>
        </p:nvSpPr>
        <p:spPr>
          <a:xfrm>
            <a:off x="8327136" y="3194304"/>
            <a:ext cx="338937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queries, no SQL or dashboard training</a:t>
            </a:r>
            <a:endParaRPr lang="en-US" sz="1533" dirty="0"/>
          </a:p>
        </p:txBody>
      </p:sp>
      <p:sp>
        <p:nvSpPr>
          <p:cNvPr id="21" name="Shape 16"/>
          <p:cNvSpPr/>
          <p:nvPr/>
        </p:nvSpPr>
        <p:spPr>
          <a:xfrm>
            <a:off x="426720" y="4230624"/>
            <a:ext cx="3657600" cy="156057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63500" dist="25400" dir="2700000" algn="bl" rotWithShape="0">
              <a:srgbClr val="C0D8F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573024" y="4376928"/>
            <a:ext cx="585216" cy="585216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498848"/>
            <a:ext cx="341376" cy="3413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55776" y="4352544"/>
            <a:ext cx="268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733" dirty="0"/>
          </a:p>
        </p:txBody>
      </p:sp>
      <p:sp>
        <p:nvSpPr>
          <p:cNvPr id="25" name="Text 19"/>
          <p:cNvSpPr/>
          <p:nvPr/>
        </p:nvSpPr>
        <p:spPr>
          <a:xfrm>
            <a:off x="573024" y="4962144"/>
            <a:ext cx="338937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row-level access fully preserved end-to-end</a:t>
            </a:r>
            <a:endParaRPr lang="en-US" sz="1533" dirty="0"/>
          </a:p>
        </p:txBody>
      </p:sp>
      <p:sp>
        <p:nvSpPr>
          <p:cNvPr id="26" name="Shape 20"/>
          <p:cNvSpPr/>
          <p:nvPr/>
        </p:nvSpPr>
        <p:spPr>
          <a:xfrm>
            <a:off x="4303776" y="4230624"/>
            <a:ext cx="3657600" cy="156057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63500" dist="25400" dir="2700000" algn="bl" rotWithShape="0">
              <a:srgbClr val="C0D8F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4450080" y="4376928"/>
            <a:ext cx="585216" cy="585216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498848"/>
            <a:ext cx="341376" cy="34137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32832" y="4352544"/>
            <a:ext cx="268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Scale</a:t>
            </a:r>
            <a:endParaRPr lang="en-US" sz="1733" dirty="0"/>
          </a:p>
        </p:txBody>
      </p:sp>
      <p:sp>
        <p:nvSpPr>
          <p:cNvPr id="30" name="Text 23"/>
          <p:cNvSpPr/>
          <p:nvPr/>
        </p:nvSpPr>
        <p:spPr>
          <a:xfrm>
            <a:off x="4450080" y="4962144"/>
            <a:ext cx="3389376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top of your existing Tableau investment</a:t>
            </a:r>
            <a:endParaRPr lang="en-US" sz="1533" dirty="0"/>
          </a:p>
        </p:txBody>
      </p:sp>
      <p:sp>
        <p:nvSpPr>
          <p:cNvPr id="33" name="Text 24"/>
          <p:cNvSpPr/>
          <p:nvPr/>
        </p:nvSpPr>
        <p:spPr>
          <a:xfrm>
            <a:off x="365760" y="636422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Mishra  |  Bengaluru Tableau User Group  |  June 2026</a:t>
            </a:r>
            <a:endParaRPr lang="en-US" sz="13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243840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67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26720" y="609600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How It All Connects</a:t>
            </a:r>
            <a:endParaRPr lang="en-US" sz="4533" dirty="0"/>
          </a:p>
        </p:txBody>
      </p:sp>
      <p:sp>
        <p:nvSpPr>
          <p:cNvPr id="4" name="Shape 2"/>
          <p:cNvSpPr/>
          <p:nvPr/>
        </p:nvSpPr>
        <p:spPr>
          <a:xfrm>
            <a:off x="487680" y="1609344"/>
            <a:ext cx="347472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2700000" algn="bl" rotWithShape="0">
              <a:srgbClr val="C0D8F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144" y="1731264"/>
            <a:ext cx="609600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2401824"/>
            <a:ext cx="3230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867" dirty="0"/>
          </a:p>
        </p:txBody>
      </p:sp>
      <p:sp>
        <p:nvSpPr>
          <p:cNvPr id="7" name="Text 4"/>
          <p:cNvSpPr/>
          <p:nvPr/>
        </p:nvSpPr>
        <p:spPr>
          <a:xfrm>
            <a:off x="609600" y="2852928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Copilot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/ VS Code</a:t>
            </a:r>
            <a:endParaRPr lang="en-US" sz="1467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528" y="2523744"/>
            <a:ext cx="390144" cy="3901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64736" y="1609344"/>
            <a:ext cx="3474720" cy="2011680"/>
          </a:xfrm>
          <a:prstGeom prst="roundRect">
            <a:avLst>
              <a:gd name="adj" fmla="val 7273"/>
            </a:avLst>
          </a:prstGeom>
          <a:solidFill>
            <a:srgbClr val="D6EAF8"/>
          </a:solidFill>
          <a:ln w="25400">
            <a:solidFill>
              <a:srgbClr val="00A1E0"/>
            </a:solidFill>
            <a:prstDash val="solid"/>
          </a:ln>
          <a:effectLst>
            <a:outerShdw blurRad="76200" dist="25400" dir="2700000" algn="bl" rotWithShape="0">
              <a:srgbClr val="C0D8F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1731264"/>
            <a:ext cx="609600" cy="609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86656" y="2401824"/>
            <a:ext cx="3230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867" dirty="0"/>
          </a:p>
        </p:txBody>
      </p:sp>
      <p:sp>
        <p:nvSpPr>
          <p:cNvPr id="12" name="Text 7"/>
          <p:cNvSpPr/>
          <p:nvPr/>
        </p:nvSpPr>
        <p:spPr>
          <a:xfrm>
            <a:off x="4486656" y="2852928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VM</a:t>
            </a:r>
            <a:endParaRPr lang="en-US" sz="1467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584" y="2523744"/>
            <a:ext cx="390144" cy="3901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241792" y="1609344"/>
            <a:ext cx="347472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2700000" algn="bl" rotWithShape="0">
              <a:srgbClr val="C0D8F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8256" y="1731264"/>
            <a:ext cx="609600" cy="609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63712" y="2401824"/>
            <a:ext cx="3230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Cloud</a:t>
            </a:r>
            <a:endParaRPr lang="en-US" sz="1867" dirty="0"/>
          </a:p>
        </p:txBody>
      </p:sp>
      <p:sp>
        <p:nvSpPr>
          <p:cNvPr id="17" name="Text 10"/>
          <p:cNvSpPr/>
          <p:nvPr/>
        </p:nvSpPr>
        <p:spPr>
          <a:xfrm>
            <a:off x="8363712" y="2852928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VizQL / Metadata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467" dirty="0"/>
          </a:p>
        </p:txBody>
      </p:sp>
      <p:sp>
        <p:nvSpPr>
          <p:cNvPr id="18" name="Shape 11"/>
          <p:cNvSpPr/>
          <p:nvPr/>
        </p:nvSpPr>
        <p:spPr>
          <a:xfrm>
            <a:off x="426720" y="3877056"/>
            <a:ext cx="5669280" cy="1889760"/>
          </a:xfrm>
          <a:prstGeom prst="roundRect">
            <a:avLst>
              <a:gd name="adj" fmla="val 5161"/>
            </a:avLst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2"/>
          <p:cNvSpPr/>
          <p:nvPr/>
        </p:nvSpPr>
        <p:spPr>
          <a:xfrm>
            <a:off x="609600" y="3962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Auth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09600" y="4413504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</a:t>
            </a:r>
            <a:endParaRPr lang="en-US" sz="1467" dirty="0"/>
          </a:p>
        </p:txBody>
      </p:sp>
      <p:sp>
        <p:nvSpPr>
          <p:cNvPr id="21" name="Text 14"/>
          <p:cNvSpPr/>
          <p:nvPr/>
        </p:nvSpPr>
        <p:spPr>
          <a:xfrm>
            <a:off x="3108960" y="4413504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 HTTP</a:t>
            </a:r>
            <a:endParaRPr lang="en-US" sz="1467" dirty="0"/>
          </a:p>
        </p:txBody>
      </p:sp>
      <p:sp>
        <p:nvSpPr>
          <p:cNvPr id="22" name="Text 15"/>
          <p:cNvSpPr/>
          <p:nvPr/>
        </p:nvSpPr>
        <p:spPr>
          <a:xfrm>
            <a:off x="609600" y="4828032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(POC):</a:t>
            </a:r>
            <a:endParaRPr lang="en-US" sz="1467" dirty="0"/>
          </a:p>
        </p:txBody>
      </p:sp>
      <p:sp>
        <p:nvSpPr>
          <p:cNvPr id="23" name="Text 16"/>
          <p:cNvSpPr/>
          <p:nvPr/>
        </p:nvSpPr>
        <p:spPr>
          <a:xfrm>
            <a:off x="3108960" y="4828032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Access Token (PAT)</a:t>
            </a:r>
            <a:endParaRPr lang="en-US" sz="1467" dirty="0"/>
          </a:p>
        </p:txBody>
      </p:sp>
      <p:sp>
        <p:nvSpPr>
          <p:cNvPr id="24" name="Text 17"/>
          <p:cNvSpPr/>
          <p:nvPr/>
        </p:nvSpPr>
        <p:spPr>
          <a:xfrm>
            <a:off x="609600" y="524256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(Enterprise):</a:t>
            </a:r>
            <a:endParaRPr lang="en-US" sz="1467" dirty="0"/>
          </a:p>
        </p:txBody>
      </p:sp>
      <p:sp>
        <p:nvSpPr>
          <p:cNvPr id="25" name="Text 18"/>
          <p:cNvSpPr/>
          <p:nvPr/>
        </p:nvSpPr>
        <p:spPr>
          <a:xfrm>
            <a:off x="3108960" y="524256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</a:t>
            </a:r>
            <a:endParaRPr lang="en-US" sz="1467" dirty="0"/>
          </a:p>
        </p:txBody>
      </p:sp>
      <p:sp>
        <p:nvSpPr>
          <p:cNvPr id="26" name="Shape 19"/>
          <p:cNvSpPr/>
          <p:nvPr/>
        </p:nvSpPr>
        <p:spPr>
          <a:xfrm>
            <a:off x="6339840" y="3877056"/>
            <a:ext cx="5425440" cy="1889760"/>
          </a:xfrm>
          <a:prstGeom prst="roundRect">
            <a:avLst>
              <a:gd name="adj" fmla="val 5161"/>
            </a:avLst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0"/>
          <p:cNvSpPr/>
          <p:nvPr/>
        </p:nvSpPr>
        <p:spPr>
          <a:xfrm>
            <a:off x="6522720" y="396240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Patterns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522720" y="44135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Pattern:</a:t>
            </a:r>
            <a:endParaRPr lang="en-US" sz="1467" dirty="0"/>
          </a:p>
        </p:txBody>
      </p:sp>
      <p:sp>
        <p:nvSpPr>
          <p:cNvPr id="29" name="Text 22"/>
          <p:cNvSpPr/>
          <p:nvPr/>
        </p:nvSpPr>
        <p:spPr>
          <a:xfrm>
            <a:off x="9144000" y="4413504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VM + Public DNS</a:t>
            </a:r>
            <a:endParaRPr lang="en-US" sz="1467" dirty="0"/>
          </a:p>
        </p:txBody>
      </p:sp>
      <p:sp>
        <p:nvSpPr>
          <p:cNvPr id="30" name="Text 23"/>
          <p:cNvSpPr/>
          <p:nvPr/>
        </p:nvSpPr>
        <p:spPr>
          <a:xfrm>
            <a:off x="6522720" y="4828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Pattern:</a:t>
            </a:r>
            <a:endParaRPr lang="en-US" sz="1467" dirty="0"/>
          </a:p>
        </p:txBody>
      </p:sp>
      <p:sp>
        <p:nvSpPr>
          <p:cNvPr id="31" name="Text 24"/>
          <p:cNvSpPr/>
          <p:nvPr/>
        </p:nvSpPr>
        <p:spPr>
          <a:xfrm>
            <a:off x="9144000" y="4828032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+ Load Balancer</a:t>
            </a:r>
            <a:endParaRPr lang="en-US" sz="1467" dirty="0"/>
          </a:p>
        </p:txBody>
      </p:sp>
      <p:sp>
        <p:nvSpPr>
          <p:cNvPr id="32" name="Text 25"/>
          <p:cNvSpPr/>
          <p:nvPr/>
        </p:nvSpPr>
        <p:spPr>
          <a:xfrm>
            <a:off x="6522720" y="5242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</a:t>
            </a:r>
            <a:endParaRPr lang="en-US" sz="1467" dirty="0"/>
          </a:p>
        </p:txBody>
      </p:sp>
      <p:sp>
        <p:nvSpPr>
          <p:cNvPr id="33" name="Text 26"/>
          <p:cNvSpPr/>
          <p:nvPr/>
        </p:nvSpPr>
        <p:spPr>
          <a:xfrm>
            <a:off x="9144000" y="524256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</a:t>
            </a:r>
            <a:endParaRPr lang="en-US" sz="1467" dirty="0"/>
          </a:p>
        </p:txBody>
      </p:sp>
      <p:sp>
        <p:nvSpPr>
          <p:cNvPr id="36" name="Text 27"/>
          <p:cNvSpPr/>
          <p:nvPr/>
        </p:nvSpPr>
        <p:spPr>
          <a:xfrm>
            <a:off x="365760" y="636422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Mishra  |  Bengaluru Tableau User Group  |  June 2026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243840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67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26720" y="609600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Flow</a:t>
            </a:r>
            <a:endParaRPr lang="en-US" sz="4533" dirty="0"/>
          </a:p>
        </p:txBody>
      </p:sp>
      <p:sp>
        <p:nvSpPr>
          <p:cNvPr id="4" name="Shape 2"/>
          <p:cNvSpPr/>
          <p:nvPr/>
        </p:nvSpPr>
        <p:spPr>
          <a:xfrm>
            <a:off x="426720" y="1645920"/>
            <a:ext cx="2682240" cy="121920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 w="1524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731264"/>
            <a:ext cx="426720" cy="426720"/>
          </a:xfrm>
          <a:prstGeom prst="ellipse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426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4256" y="2218944"/>
            <a:ext cx="251155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question</a:t>
            </a:r>
            <a:endParaRPr lang="en-US" sz="1533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132" y="2194560"/>
            <a:ext cx="316992" cy="3169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52800" y="1645920"/>
            <a:ext cx="2682240" cy="121920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 w="1524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474720" y="1731264"/>
            <a:ext cx="426720" cy="426720"/>
          </a:xfrm>
          <a:prstGeom prst="ellipse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474720" y="1719072"/>
            <a:ext cx="426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450336" y="2218944"/>
            <a:ext cx="251155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interprets request</a:t>
            </a:r>
            <a:endParaRPr lang="en-US" sz="1533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212" y="2194560"/>
            <a:ext cx="316992" cy="3169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78880" y="1645920"/>
            <a:ext cx="2682240" cy="121920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 w="1524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400800" y="1731264"/>
            <a:ext cx="426720" cy="426720"/>
          </a:xfrm>
          <a:prstGeom prst="ellipse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6400800" y="1719072"/>
            <a:ext cx="426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376416" y="2218944"/>
            <a:ext cx="251155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sent via HTTPS</a:t>
            </a:r>
            <a:endParaRPr lang="en-US" sz="1533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292" y="2194560"/>
            <a:ext cx="316992" cy="31699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204960" y="1645920"/>
            <a:ext cx="2682240" cy="121920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 w="1524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9326880" y="1731264"/>
            <a:ext cx="426720" cy="426720"/>
          </a:xfrm>
          <a:prstGeom prst="ellipse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9326880" y="1719072"/>
            <a:ext cx="426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302496" y="2218944"/>
            <a:ext cx="251155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validated</a:t>
            </a:r>
            <a:endParaRPr lang="en-US" sz="1533" dirty="0"/>
          </a:p>
        </p:txBody>
      </p:sp>
      <p:sp>
        <p:nvSpPr>
          <p:cNvPr id="23" name="Shape 18"/>
          <p:cNvSpPr/>
          <p:nvPr/>
        </p:nvSpPr>
        <p:spPr>
          <a:xfrm>
            <a:off x="426720" y="3048000"/>
            <a:ext cx="11338560" cy="463296"/>
          </a:xfrm>
          <a:prstGeom prst="roundRect">
            <a:avLst>
              <a:gd name="adj" fmla="val 15789"/>
            </a:avLst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609600" y="3084576"/>
            <a:ext cx="10850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Return Path: MCP → Load Balancer → AI Agent → User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426720" y="3681984"/>
            <a:ext cx="3596640" cy="121920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 w="1905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548640" y="3767328"/>
            <a:ext cx="426720" cy="426720"/>
          </a:xfrm>
          <a:prstGeom prst="ellipse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548640" y="3755136"/>
            <a:ext cx="426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524256" y="4255008"/>
            <a:ext cx="34137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forwarded to Tableau</a:t>
            </a:r>
            <a:endParaRPr lang="en-US" sz="16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780" y="4230624"/>
            <a:ext cx="316992" cy="31699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4328160" y="3681984"/>
            <a:ext cx="3596640" cy="121920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 w="1905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4450080" y="3767328"/>
            <a:ext cx="426720" cy="426720"/>
          </a:xfrm>
          <a:prstGeom prst="ellipse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/>
          <p:nvPr/>
        </p:nvSpPr>
        <p:spPr>
          <a:xfrm>
            <a:off x="4450080" y="3755136"/>
            <a:ext cx="426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4425696" y="4255008"/>
            <a:ext cx="34137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retrieved</a:t>
            </a:r>
            <a:endParaRPr lang="en-US" sz="16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220" y="4230624"/>
            <a:ext cx="316992" cy="31699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8229600" y="3681984"/>
            <a:ext cx="3596640" cy="121920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 w="1905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8351520" y="3767328"/>
            <a:ext cx="426720" cy="426720"/>
          </a:xfrm>
          <a:prstGeom prst="ellipse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0"/>
          <p:cNvSpPr/>
          <p:nvPr/>
        </p:nvSpPr>
        <p:spPr>
          <a:xfrm>
            <a:off x="8351520" y="3755136"/>
            <a:ext cx="426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8327136" y="4255008"/>
            <a:ext cx="34137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returned</a:t>
            </a: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365760" y="636422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Mishra  |  Bengaluru Tableau User Group  |  June 2026</a:t>
            </a:r>
            <a:endParaRPr lang="en-US" sz="13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243840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67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26720" y="609600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 &amp; Guardrails</a:t>
            </a:r>
            <a:endParaRPr lang="en-US" sz="4533" dirty="0"/>
          </a:p>
        </p:txBody>
      </p:sp>
      <p:sp>
        <p:nvSpPr>
          <p:cNvPr id="4" name="Shape 2"/>
          <p:cNvSpPr/>
          <p:nvPr/>
        </p:nvSpPr>
        <p:spPr>
          <a:xfrm>
            <a:off x="426720" y="1682496"/>
            <a:ext cx="6827520" cy="1158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63500" dist="25400" dir="2700000" algn="bl" rotWithShape="0">
              <a:srgbClr val="C0D8F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85216" y="1792224"/>
            <a:ext cx="548640" cy="548640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9019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1767840"/>
            <a:ext cx="5730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</a:t>
            </a:r>
            <a:endParaRPr lang="en-US" sz="1733" dirty="0"/>
          </a:p>
        </p:txBody>
      </p:sp>
      <p:sp>
        <p:nvSpPr>
          <p:cNvPr id="8" name="Text 5"/>
          <p:cNvSpPr/>
          <p:nvPr/>
        </p:nvSpPr>
        <p:spPr>
          <a:xfrm>
            <a:off x="1243584" y="2182368"/>
            <a:ext cx="573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identity passed across all layers — Tableau permissions respected at every level</a:t>
            </a:r>
            <a:endParaRPr lang="en-US" sz="1533" dirty="0"/>
          </a:p>
        </p:txBody>
      </p:sp>
      <p:sp>
        <p:nvSpPr>
          <p:cNvPr id="9" name="Shape 6"/>
          <p:cNvSpPr/>
          <p:nvPr/>
        </p:nvSpPr>
        <p:spPr>
          <a:xfrm>
            <a:off x="426720" y="3023616"/>
            <a:ext cx="6827520" cy="1158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63500" dist="25400" dir="2700000" algn="bl" rotWithShape="0">
              <a:srgbClr val="C0D8F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85216" y="3133344"/>
            <a:ext cx="548640" cy="548640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24307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43584" y="3108960"/>
            <a:ext cx="5730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733" dirty="0"/>
          </a:p>
        </p:txBody>
      </p:sp>
      <p:sp>
        <p:nvSpPr>
          <p:cNvPr id="13" name="Text 9"/>
          <p:cNvSpPr/>
          <p:nvPr/>
        </p:nvSpPr>
        <p:spPr>
          <a:xfrm>
            <a:off x="1243584" y="3523488"/>
            <a:ext cx="573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segregation between public-facing endpoints and private internal resources</a:t>
            </a:r>
            <a:endParaRPr lang="en-US" sz="1533" dirty="0"/>
          </a:p>
        </p:txBody>
      </p:sp>
      <p:sp>
        <p:nvSpPr>
          <p:cNvPr id="14" name="Shape 10"/>
          <p:cNvSpPr/>
          <p:nvPr/>
        </p:nvSpPr>
        <p:spPr>
          <a:xfrm>
            <a:off x="426720" y="4364736"/>
            <a:ext cx="6827520" cy="1158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63500" dist="25400" dir="2700000" algn="bl" rotWithShape="0">
              <a:srgbClr val="C0D8F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585216" y="4474464"/>
            <a:ext cx="548640" cy="548640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58419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43584" y="4450080"/>
            <a:ext cx="5730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Safety</a:t>
            </a:r>
            <a:endParaRPr lang="en-US" sz="1733" dirty="0"/>
          </a:p>
        </p:txBody>
      </p:sp>
      <p:sp>
        <p:nvSpPr>
          <p:cNvPr id="18" name="Text 13"/>
          <p:cNvSpPr/>
          <p:nvPr/>
        </p:nvSpPr>
        <p:spPr>
          <a:xfrm>
            <a:off x="1243584" y="4864608"/>
            <a:ext cx="573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credentials stored in secure vault — never hardcoded in source code or config files</a:t>
            </a:r>
            <a:endParaRPr lang="en-US" sz="1533" dirty="0"/>
          </a:p>
        </p:txBody>
      </p:sp>
      <p:sp>
        <p:nvSpPr>
          <p:cNvPr id="19" name="Shape 14"/>
          <p:cNvSpPr/>
          <p:nvPr/>
        </p:nvSpPr>
        <p:spPr>
          <a:xfrm>
            <a:off x="7498080" y="1682496"/>
            <a:ext cx="4267200" cy="3779520"/>
          </a:xfrm>
          <a:prstGeom prst="roundRect">
            <a:avLst>
              <a:gd name="adj" fmla="val 3226"/>
            </a:avLst>
          </a:prstGeom>
          <a:solidFill>
            <a:srgbClr val="EBF5FB"/>
          </a:solidFill>
          <a:ln w="1905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656576" y="1804416"/>
            <a:ext cx="548640" cy="548640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304" y="191414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14944" y="1828800"/>
            <a:ext cx="32918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20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6576" y="2670048"/>
            <a:ext cx="341376" cy="34137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95488" y="2511552"/>
            <a:ext cx="3535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Tableau permissions and role-based access control</a:t>
            </a:r>
            <a:endParaRPr lang="en-US" sz="1533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6576" y="3425952"/>
            <a:ext cx="341376" cy="34137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095488" y="3267456"/>
            <a:ext cx="3535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— no data modification possible via MCP</a:t>
            </a:r>
            <a:endParaRPr lang="en-US" sz="1533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6576" y="4181856"/>
            <a:ext cx="341376" cy="34137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095488" y="4023360"/>
            <a:ext cx="3535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logged for audit and compliance</a:t>
            </a:r>
            <a:endParaRPr lang="en-US" sz="1533" dirty="0"/>
          </a:p>
        </p:txBody>
      </p:sp>
      <p:sp>
        <p:nvSpPr>
          <p:cNvPr id="31" name="Text 20"/>
          <p:cNvSpPr/>
          <p:nvPr/>
        </p:nvSpPr>
        <p:spPr>
          <a:xfrm>
            <a:off x="365760" y="636422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Mishra  |  Bengaluru Tableau User Group  |  June 2026</a:t>
            </a:r>
            <a:endParaRPr lang="en-US" sz="133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243840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67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26720" y="609600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Setup — Local and GCP VM Deployments</a:t>
            </a:r>
            <a:endParaRPr lang="en-US" sz="4533" dirty="0"/>
          </a:p>
        </p:txBody>
      </p:sp>
      <p:sp>
        <p:nvSpPr>
          <p:cNvPr id="4" name="Shape 2"/>
          <p:cNvSpPr/>
          <p:nvPr/>
        </p:nvSpPr>
        <p:spPr>
          <a:xfrm>
            <a:off x="426720" y="1609344"/>
            <a:ext cx="11338560" cy="536448"/>
          </a:xfrm>
          <a:prstGeom prst="roundRect">
            <a:avLst>
              <a:gd name="adj" fmla="val 13636"/>
            </a:avLst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09600" y="164592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setup completed in a single afternoon using open-source tools.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426720" y="2340864"/>
            <a:ext cx="560832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2700000" algn="bl" rotWithShape="0">
              <a:srgbClr val="C0D8F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3024" y="2487168"/>
            <a:ext cx="438912" cy="438912"/>
          </a:xfrm>
          <a:prstGeom prst="ellipse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3024" y="2462784"/>
            <a:ext cx="4389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1121664" y="2462784"/>
            <a:ext cx="4754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</a:t>
            </a:r>
            <a:endParaRPr lang="en-US" sz="1667" dirty="0"/>
          </a:p>
        </p:txBody>
      </p:sp>
      <p:sp>
        <p:nvSpPr>
          <p:cNvPr id="10" name="Shape 8"/>
          <p:cNvSpPr/>
          <p:nvPr/>
        </p:nvSpPr>
        <p:spPr>
          <a:xfrm>
            <a:off x="573024" y="2974848"/>
            <a:ext cx="5303520" cy="542544"/>
          </a:xfrm>
          <a:prstGeom prst="roundRect">
            <a:avLst>
              <a:gd name="adj" fmla="val 8065"/>
            </a:avLst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70560" y="2999232"/>
            <a:ext cx="5120640" cy="507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0A2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https://github.com/tableau/tableau-mcp.git</a:t>
            </a:r>
            <a:endParaRPr lang="en-US" sz="1067" dirty="0"/>
          </a:p>
        </p:txBody>
      </p:sp>
      <p:sp>
        <p:nvSpPr>
          <p:cNvPr id="12" name="Shape 10"/>
          <p:cNvSpPr/>
          <p:nvPr/>
        </p:nvSpPr>
        <p:spPr>
          <a:xfrm>
            <a:off x="6303264" y="2340864"/>
            <a:ext cx="560832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2700000" algn="bl" rotWithShape="0">
              <a:srgbClr val="C0D8F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49568" y="2487168"/>
            <a:ext cx="438912" cy="438912"/>
          </a:xfrm>
          <a:prstGeom prst="ellipse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49568" y="2462784"/>
            <a:ext cx="4389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6998208" y="2462784"/>
            <a:ext cx="4754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Build</a:t>
            </a:r>
            <a:endParaRPr lang="en-US" sz="1667" dirty="0"/>
          </a:p>
        </p:txBody>
      </p:sp>
      <p:sp>
        <p:nvSpPr>
          <p:cNvPr id="16" name="Shape 14"/>
          <p:cNvSpPr/>
          <p:nvPr/>
        </p:nvSpPr>
        <p:spPr>
          <a:xfrm>
            <a:off x="6449568" y="2974848"/>
            <a:ext cx="5303520" cy="542544"/>
          </a:xfrm>
          <a:prstGeom prst="roundRect">
            <a:avLst>
              <a:gd name="adj" fmla="val 8065"/>
            </a:avLst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47104" y="2999232"/>
            <a:ext cx="5120640" cy="507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0A2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&amp;&amp; npm install dotenv &amp;&amp; npm run build</a:t>
            </a:r>
            <a:endParaRPr lang="en-US" sz="1067" dirty="0"/>
          </a:p>
        </p:txBody>
      </p:sp>
      <p:sp>
        <p:nvSpPr>
          <p:cNvPr id="18" name="Shape 16"/>
          <p:cNvSpPr/>
          <p:nvPr/>
        </p:nvSpPr>
        <p:spPr>
          <a:xfrm>
            <a:off x="426720" y="4072128"/>
            <a:ext cx="560832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2700000" algn="bl" rotWithShape="0">
              <a:srgbClr val="C0D8F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73024" y="4218432"/>
            <a:ext cx="438912" cy="438912"/>
          </a:xfrm>
          <a:prstGeom prst="ellipse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73024" y="4194048"/>
            <a:ext cx="4389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1121664" y="4194048"/>
            <a:ext cx="4754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.env</a:t>
            </a:r>
            <a:endParaRPr lang="en-US" sz="1667" dirty="0"/>
          </a:p>
        </p:txBody>
      </p:sp>
      <p:sp>
        <p:nvSpPr>
          <p:cNvPr id="22" name="Shape 20"/>
          <p:cNvSpPr/>
          <p:nvPr/>
        </p:nvSpPr>
        <p:spPr>
          <a:xfrm>
            <a:off x="573024" y="4706112"/>
            <a:ext cx="5303520" cy="542544"/>
          </a:xfrm>
          <a:prstGeom prst="roundRect">
            <a:avLst>
              <a:gd name="adj" fmla="val 8065"/>
            </a:avLst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0560" y="4730496"/>
            <a:ext cx="5120640" cy="507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0A2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 · AUTH · SERVER · SITE_NAME · PAT_NAME · PAT_VALUE</a:t>
            </a:r>
            <a:endParaRPr lang="en-US" sz="1067" dirty="0"/>
          </a:p>
        </p:txBody>
      </p:sp>
      <p:sp>
        <p:nvSpPr>
          <p:cNvPr id="24" name="Shape 22"/>
          <p:cNvSpPr/>
          <p:nvPr/>
        </p:nvSpPr>
        <p:spPr>
          <a:xfrm>
            <a:off x="6303264" y="4072128"/>
            <a:ext cx="560832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2700000" algn="bl" rotWithShape="0">
              <a:srgbClr val="C0D8F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49568" y="4218432"/>
            <a:ext cx="438912" cy="438912"/>
          </a:xfrm>
          <a:prstGeom prst="ellipse">
            <a:avLst/>
          </a:prstGeom>
          <a:solidFill>
            <a:srgbClr val="0A2463"/>
          </a:solidFill>
          <a:ln w="1270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49568" y="4194048"/>
            <a:ext cx="4389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6998208" y="4194048"/>
            <a:ext cx="4754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Server</a:t>
            </a:r>
            <a:endParaRPr lang="en-US" sz="1667" dirty="0"/>
          </a:p>
        </p:txBody>
      </p:sp>
      <p:sp>
        <p:nvSpPr>
          <p:cNvPr id="28" name="Shape 26"/>
          <p:cNvSpPr/>
          <p:nvPr/>
        </p:nvSpPr>
        <p:spPr>
          <a:xfrm>
            <a:off x="6449568" y="4706112"/>
            <a:ext cx="5303520" cy="542544"/>
          </a:xfrm>
          <a:prstGeom prst="roundRect">
            <a:avLst>
              <a:gd name="adj" fmla="val 8065"/>
            </a:avLst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47104" y="4730496"/>
            <a:ext cx="5120640" cy="507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0A2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-r dotenv/config build/index.js --config config.http.json</a:t>
            </a:r>
            <a:endParaRPr lang="en-US" sz="1067" dirty="0"/>
          </a:p>
        </p:txBody>
      </p:sp>
      <p:sp>
        <p:nvSpPr>
          <p:cNvPr id="30" name="Shape 28"/>
          <p:cNvSpPr/>
          <p:nvPr/>
        </p:nvSpPr>
        <p:spPr>
          <a:xfrm>
            <a:off x="426720" y="5696276"/>
            <a:ext cx="11338560" cy="463296"/>
          </a:xfrm>
          <a:prstGeom prst="roundRect">
            <a:avLst>
              <a:gd name="adj" fmla="val 18421"/>
            </a:avLst>
          </a:prstGeom>
          <a:solidFill>
            <a:srgbClr val="D6EAF8"/>
          </a:solidFill>
          <a:ln w="1524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48640" y="5757236"/>
            <a:ext cx="341376" cy="341376"/>
          </a:xfrm>
          <a:prstGeom prst="ellipse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8640" y="5745044"/>
            <a:ext cx="34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33" dirty="0"/>
          </a:p>
        </p:txBody>
      </p:sp>
      <p:sp>
        <p:nvSpPr>
          <p:cNvPr id="33" name="Text 31"/>
          <p:cNvSpPr/>
          <p:nvPr/>
        </p:nvSpPr>
        <p:spPr>
          <a:xfrm>
            <a:off x="975360" y="5732852"/>
            <a:ext cx="106070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Endpoint: Map DNS → Open firewall → Public endpoint ready!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5760" y="636422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Mishra  |  Bengaluru Tableau User Group  |  June 2026</a:t>
            </a:r>
            <a:endParaRPr lang="en-US" sz="133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CC602-5381-24BE-5F37-2ACD3BA9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560" y="2743311"/>
            <a:ext cx="5228468" cy="1371377"/>
          </a:xfrm>
        </p:spPr>
        <p:txBody>
          <a:bodyPr>
            <a:noAutofit/>
          </a:bodyPr>
          <a:lstStyle/>
          <a:p>
            <a:r>
              <a:rPr lang="en-US" sz="9600" dirty="0"/>
              <a:t>Demo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176744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243840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67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26720" y="609600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MCP Inspector</a:t>
            </a:r>
            <a:endParaRPr lang="en-US" sz="4533" dirty="0"/>
          </a:p>
        </p:txBody>
      </p:sp>
      <p:sp>
        <p:nvSpPr>
          <p:cNvPr id="4" name="Shape 2"/>
          <p:cNvSpPr/>
          <p:nvPr/>
        </p:nvSpPr>
        <p:spPr>
          <a:xfrm>
            <a:off x="426720" y="1682496"/>
            <a:ext cx="5669280" cy="35966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63500" dist="25400" dir="2700000" algn="bl" rotWithShape="0">
              <a:srgbClr val="C0D8F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09600" y="1804416"/>
            <a:ext cx="5242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867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40864"/>
            <a:ext cx="341376" cy="3413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8512" y="2304288"/>
            <a:ext cx="48768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MCP Inspector via HTTP transport</a:t>
            </a:r>
            <a:endParaRPr lang="en-US" sz="1667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023616"/>
            <a:ext cx="341376" cy="3413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48512" y="2987040"/>
            <a:ext cx="48768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the public DNS endpoint from external browser</a:t>
            </a:r>
            <a:endParaRPr lang="en-US" sz="1667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06368"/>
            <a:ext cx="341376" cy="3413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8512" y="3669792"/>
            <a:ext cx="48768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with PAT credentials</a:t>
            </a:r>
            <a:endParaRPr lang="en-US" sz="1667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89120"/>
            <a:ext cx="341376" cy="3413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48512" y="4352544"/>
            <a:ext cx="48768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available tools automatically</a:t>
            </a:r>
            <a:endParaRPr lang="en-US" sz="1667" dirty="0"/>
          </a:p>
        </p:txBody>
      </p:sp>
      <p:sp>
        <p:nvSpPr>
          <p:cNvPr id="14" name="Shape 8"/>
          <p:cNvSpPr/>
          <p:nvPr/>
        </p:nvSpPr>
        <p:spPr>
          <a:xfrm>
            <a:off x="6339840" y="1682497"/>
            <a:ext cx="5425440" cy="1835767"/>
          </a:xfrm>
          <a:prstGeom prst="roundRect">
            <a:avLst>
              <a:gd name="adj" fmla="val 5714"/>
            </a:avLst>
          </a:prstGeom>
          <a:solidFill>
            <a:srgbClr val="EBF5FB"/>
          </a:solidFill>
          <a:ln w="1905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9"/>
          <p:cNvSpPr/>
          <p:nvPr/>
        </p:nvSpPr>
        <p:spPr>
          <a:xfrm>
            <a:off x="6522720" y="1804416"/>
            <a:ext cx="49987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Tools Discovered</a:t>
            </a:r>
            <a:endParaRPr lang="en-US" sz="1867" dirty="0"/>
          </a:p>
        </p:txBody>
      </p:sp>
      <p:sp>
        <p:nvSpPr>
          <p:cNvPr id="16" name="Shape 10"/>
          <p:cNvSpPr/>
          <p:nvPr/>
        </p:nvSpPr>
        <p:spPr>
          <a:xfrm>
            <a:off x="6522720" y="2340864"/>
            <a:ext cx="5096256" cy="334603"/>
          </a:xfrm>
          <a:prstGeom prst="roundRect">
            <a:avLst>
              <a:gd name="adj" fmla="val 13158"/>
            </a:avLst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1"/>
          <p:cNvSpPr/>
          <p:nvPr/>
        </p:nvSpPr>
        <p:spPr>
          <a:xfrm>
            <a:off x="6608064" y="2353056"/>
            <a:ext cx="492556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A2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list-datasources</a:t>
            </a:r>
            <a:endParaRPr lang="en-US" sz="1333" dirty="0"/>
          </a:p>
        </p:txBody>
      </p:sp>
      <p:sp>
        <p:nvSpPr>
          <p:cNvPr id="18" name="Shape 12"/>
          <p:cNvSpPr/>
          <p:nvPr/>
        </p:nvSpPr>
        <p:spPr>
          <a:xfrm>
            <a:off x="6522720" y="2974848"/>
            <a:ext cx="5096256" cy="334603"/>
          </a:xfrm>
          <a:prstGeom prst="roundRect">
            <a:avLst>
              <a:gd name="adj" fmla="val 13158"/>
            </a:avLst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6608064" y="2987040"/>
            <a:ext cx="492556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A2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query-datasource</a:t>
            </a:r>
            <a:endParaRPr lang="en-US" sz="1333" dirty="0"/>
          </a:p>
        </p:txBody>
      </p:sp>
      <p:sp>
        <p:nvSpPr>
          <p:cNvPr id="21" name="Shape 15"/>
          <p:cNvSpPr/>
          <p:nvPr/>
        </p:nvSpPr>
        <p:spPr>
          <a:xfrm>
            <a:off x="6339840" y="3998976"/>
            <a:ext cx="5425440" cy="1292352"/>
          </a:xfrm>
          <a:prstGeom prst="roundRect">
            <a:avLst>
              <a:gd name="adj" fmla="val 9434"/>
            </a:avLst>
          </a:prstGeom>
          <a:solidFill>
            <a:srgbClr val="D6EAF8"/>
          </a:solidFill>
          <a:ln w="1270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144" y="4120896"/>
            <a:ext cx="426720" cy="4267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10400" y="4120896"/>
            <a:ext cx="45720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733" dirty="0"/>
          </a:p>
        </p:txBody>
      </p:sp>
      <p:sp>
        <p:nvSpPr>
          <p:cNvPr id="24" name="Text 17"/>
          <p:cNvSpPr/>
          <p:nvPr/>
        </p:nvSpPr>
        <p:spPr>
          <a:xfrm>
            <a:off x="6486144" y="4547616"/>
            <a:ext cx="5120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authentication controls access — expired or revoked PATs immediately block access without code changes.</a:t>
            </a:r>
            <a:endParaRPr lang="en-US" sz="1533" dirty="0"/>
          </a:p>
        </p:txBody>
      </p:sp>
      <p:sp>
        <p:nvSpPr>
          <p:cNvPr id="27" name="Text 18"/>
          <p:cNvSpPr/>
          <p:nvPr/>
        </p:nvSpPr>
        <p:spPr>
          <a:xfrm>
            <a:off x="365760" y="636422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Mishra  |  Bengaluru Tableau User Group  |  June 2026</a:t>
            </a:r>
            <a:endParaRPr lang="en-US" sz="133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243840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67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26720" y="609600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Proved</a:t>
            </a:r>
            <a:endParaRPr lang="en-US" sz="4533" dirty="0"/>
          </a:p>
        </p:txBody>
      </p:sp>
      <p:sp>
        <p:nvSpPr>
          <p:cNvPr id="4" name="Shape 2"/>
          <p:cNvSpPr/>
          <p:nvPr/>
        </p:nvSpPr>
        <p:spPr>
          <a:xfrm>
            <a:off x="426720" y="1645920"/>
            <a:ext cx="3657600" cy="221894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2700000" algn="bl" rotWithShape="0">
              <a:srgbClr val="C0D8F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950720" y="1755648"/>
            <a:ext cx="609600" cy="609600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647" y="1834575"/>
            <a:ext cx="451747" cy="4517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38400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73024" y="2950464"/>
            <a:ext cx="3364992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can access Tableau via a single endpoint — no proprietary connectors needed</a:t>
            </a:r>
            <a:endParaRPr lang="en-US" sz="1533" dirty="0"/>
          </a:p>
        </p:txBody>
      </p:sp>
      <p:sp>
        <p:nvSpPr>
          <p:cNvPr id="9" name="Shape 6"/>
          <p:cNvSpPr/>
          <p:nvPr/>
        </p:nvSpPr>
        <p:spPr>
          <a:xfrm>
            <a:off x="4303776" y="1645920"/>
            <a:ext cx="3657600" cy="221894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25400">
            <a:solidFill>
              <a:srgbClr val="00A1E0"/>
            </a:solidFill>
            <a:prstDash val="solid"/>
          </a:ln>
          <a:effectLst>
            <a:outerShdw blurRad="76200" dist="25400" dir="2700000" algn="bl" rotWithShape="0">
              <a:srgbClr val="C0D8F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827776" y="1755648"/>
            <a:ext cx="609600" cy="609600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703" y="1834575"/>
            <a:ext cx="451747" cy="4517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25696" y="2438400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450080" y="2950464"/>
            <a:ext cx="3364992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permissions remain intact — RBAC and row-level security fully honored</a:t>
            </a:r>
            <a:endParaRPr lang="en-US" sz="1533" dirty="0"/>
          </a:p>
        </p:txBody>
      </p:sp>
      <p:sp>
        <p:nvSpPr>
          <p:cNvPr id="14" name="Shape 10"/>
          <p:cNvSpPr/>
          <p:nvPr/>
        </p:nvSpPr>
        <p:spPr>
          <a:xfrm>
            <a:off x="8180832" y="1645920"/>
            <a:ext cx="3657600" cy="221894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blurRad="76200" dist="25400" dir="2700000" algn="bl" rotWithShape="0">
              <a:srgbClr val="C0D8F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704832" y="1755648"/>
            <a:ext cx="609600" cy="609600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6752" y="187756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438400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327136" y="2950464"/>
            <a:ext cx="3364992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returned by MCP matches dashboards exactly — one source of truth maintained</a:t>
            </a:r>
            <a:endParaRPr lang="en-US" sz="1533" dirty="0"/>
          </a:p>
        </p:txBody>
      </p:sp>
      <p:sp>
        <p:nvSpPr>
          <p:cNvPr id="19" name="Shape 14"/>
          <p:cNvSpPr/>
          <p:nvPr/>
        </p:nvSpPr>
        <p:spPr>
          <a:xfrm>
            <a:off x="426720" y="4047744"/>
            <a:ext cx="5669280" cy="1316736"/>
          </a:xfrm>
          <a:prstGeom prst="roundRect">
            <a:avLst>
              <a:gd name="adj" fmla="val 9259"/>
            </a:avLst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585216" y="4169664"/>
            <a:ext cx="536448" cy="53644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242816"/>
            <a:ext cx="390144" cy="3901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19200" y="4169664"/>
            <a:ext cx="46939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</a:t>
            </a:r>
            <a:endParaRPr lang="en-US" sz="1733" dirty="0"/>
          </a:p>
        </p:txBody>
      </p:sp>
      <p:sp>
        <p:nvSpPr>
          <p:cNvPr id="23" name="Text 17"/>
          <p:cNvSpPr/>
          <p:nvPr/>
        </p:nvSpPr>
        <p:spPr>
          <a:xfrm>
            <a:off x="585216" y="4632960"/>
            <a:ext cx="53035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POC deployable in a single afternoon with open-source tools and a public endpoint.</a:t>
            </a:r>
            <a:endParaRPr lang="en-US" sz="1533" dirty="0"/>
          </a:p>
        </p:txBody>
      </p:sp>
      <p:sp>
        <p:nvSpPr>
          <p:cNvPr id="24" name="Shape 18"/>
          <p:cNvSpPr/>
          <p:nvPr/>
        </p:nvSpPr>
        <p:spPr>
          <a:xfrm>
            <a:off x="6339840" y="4047744"/>
            <a:ext cx="5425440" cy="1316736"/>
          </a:xfrm>
          <a:prstGeom prst="roundRect">
            <a:avLst>
              <a:gd name="adj" fmla="val 9259"/>
            </a:avLst>
          </a:prstGeom>
          <a:solidFill>
            <a:srgbClr val="EBF5FB"/>
          </a:solidFill>
          <a:ln w="1270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6498336" y="4169664"/>
            <a:ext cx="536448" cy="536448"/>
          </a:xfrm>
          <a:prstGeom prst="ellipse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1488" y="4242816"/>
            <a:ext cx="390144" cy="3901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32320" y="4169664"/>
            <a:ext cx="44500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</a:t>
            </a:r>
            <a:endParaRPr lang="en-US" sz="1733" dirty="0"/>
          </a:p>
        </p:txBody>
      </p:sp>
      <p:sp>
        <p:nvSpPr>
          <p:cNvPr id="28" name="Text 21"/>
          <p:cNvSpPr/>
          <p:nvPr/>
        </p:nvSpPr>
        <p:spPr>
          <a:xfrm>
            <a:off x="6498336" y="4632960"/>
            <a:ext cx="50596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data pipelines required — existing Tableau investment becomes AI-ready.</a:t>
            </a:r>
            <a:endParaRPr lang="en-US" sz="1533" dirty="0"/>
          </a:p>
        </p:txBody>
      </p:sp>
      <p:sp>
        <p:nvSpPr>
          <p:cNvPr id="31" name="Text 22"/>
          <p:cNvSpPr/>
          <p:nvPr/>
        </p:nvSpPr>
        <p:spPr>
          <a:xfrm>
            <a:off x="365760" y="636422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Mishra  |  Bengaluru Tableau User Group  |  June 2026</a:t>
            </a:r>
            <a:endParaRPr lang="en-US" sz="133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243840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67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26720" y="609600"/>
            <a:ext cx="11338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Can Extend This</a:t>
            </a:r>
            <a:endParaRPr lang="en-US" sz="4533" dirty="0"/>
          </a:p>
        </p:txBody>
      </p:sp>
      <p:sp>
        <p:nvSpPr>
          <p:cNvPr id="4" name="Shape 2"/>
          <p:cNvSpPr/>
          <p:nvPr/>
        </p:nvSpPr>
        <p:spPr>
          <a:xfrm>
            <a:off x="426720" y="1645920"/>
            <a:ext cx="3657600" cy="412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00A1E0"/>
            </a:solidFill>
            <a:prstDash val="solid"/>
          </a:ln>
          <a:effectLst>
            <a:outerShdw blurRad="76200" dist="25400" dir="2700000" algn="bl" rotWithShape="0">
              <a:srgbClr val="C0D8F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767840"/>
            <a:ext cx="3413760" cy="877824"/>
          </a:xfrm>
          <a:prstGeom prst="roundRect">
            <a:avLst>
              <a:gd name="adj" fmla="val 11111"/>
            </a:avLst>
          </a:prstGeom>
          <a:solidFill>
            <a:srgbClr val="D6EAF8"/>
          </a:solidFill>
          <a:ln w="1270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9600" y="1804416"/>
            <a:ext cx="32918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609600" y="2097024"/>
            <a:ext cx="32918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2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90169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6320" y="2755392"/>
            <a:ext cx="29504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VM deployment</a:t>
            </a:r>
            <a:endParaRPr lang="en-US" sz="1533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0883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36320" y="3462528"/>
            <a:ext cx="29504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authentication</a:t>
            </a:r>
            <a:endParaRPr lang="en-US" sz="1533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1596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6320" y="4169664"/>
            <a:ext cx="29504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using MCP Inspector</a:t>
            </a:r>
            <a:endParaRPr lang="en-US" sz="1533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023104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36320" y="4876800"/>
            <a:ext cx="29504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AI tools</a:t>
            </a:r>
            <a:endParaRPr lang="en-US" sz="1533" dirty="0"/>
          </a:p>
        </p:txBody>
      </p:sp>
      <p:sp>
        <p:nvSpPr>
          <p:cNvPr id="16" name="Shape 10"/>
          <p:cNvSpPr/>
          <p:nvPr/>
        </p:nvSpPr>
        <p:spPr>
          <a:xfrm>
            <a:off x="4303776" y="1645920"/>
            <a:ext cx="3657600" cy="412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0A2463"/>
            </a:solidFill>
            <a:prstDash val="solid"/>
          </a:ln>
          <a:effectLst>
            <a:outerShdw blurRad="76200" dist="25400" dir="2700000" algn="bl" rotWithShape="0">
              <a:srgbClr val="C0D8F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>
            <a:off x="4425696" y="1767840"/>
            <a:ext cx="3413760" cy="877824"/>
          </a:xfrm>
          <a:prstGeom prst="roundRect">
            <a:avLst>
              <a:gd name="adj" fmla="val 11111"/>
            </a:avLst>
          </a:prstGeom>
          <a:solidFill>
            <a:srgbClr val="BDD7EE"/>
          </a:solidFill>
          <a:ln w="12700">
            <a:solidFill>
              <a:srgbClr val="0A24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4486656" y="1804416"/>
            <a:ext cx="32918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33" dirty="0"/>
          </a:p>
        </p:txBody>
      </p:sp>
      <p:sp>
        <p:nvSpPr>
          <p:cNvPr id="19" name="Text 13"/>
          <p:cNvSpPr/>
          <p:nvPr/>
        </p:nvSpPr>
        <p:spPr>
          <a:xfrm>
            <a:off x="4486656" y="2097024"/>
            <a:ext cx="32918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4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656" y="2901696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13376" y="2755392"/>
            <a:ext cx="29504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OAuth authentication</a:t>
            </a:r>
            <a:endParaRPr lang="en-US" sz="1533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656" y="3608832"/>
            <a:ext cx="329184" cy="32918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913376" y="3462528"/>
            <a:ext cx="29504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RBAC integration</a:t>
            </a:r>
            <a:endParaRPr lang="en-US" sz="1533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656" y="4315968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913376" y="4169664"/>
            <a:ext cx="29504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+ secrets manager</a:t>
            </a:r>
            <a:endParaRPr lang="en-US" sz="1533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656" y="5023104"/>
            <a:ext cx="329184" cy="32918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913376" y="4876800"/>
            <a:ext cx="29504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+ containers</a:t>
            </a:r>
            <a:endParaRPr lang="en-US" sz="1533" dirty="0"/>
          </a:p>
        </p:txBody>
      </p:sp>
      <p:sp>
        <p:nvSpPr>
          <p:cNvPr id="28" name="Shape 18"/>
          <p:cNvSpPr/>
          <p:nvPr/>
        </p:nvSpPr>
        <p:spPr>
          <a:xfrm>
            <a:off x="8180832" y="1645920"/>
            <a:ext cx="3657600" cy="412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2E86AB"/>
            </a:solidFill>
            <a:prstDash val="solid"/>
          </a:ln>
          <a:effectLst>
            <a:outerShdw blurRad="76200" dist="25400" dir="2700000" algn="bl" rotWithShape="0">
              <a:srgbClr val="C0D8F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19"/>
          <p:cNvSpPr/>
          <p:nvPr/>
        </p:nvSpPr>
        <p:spPr>
          <a:xfrm>
            <a:off x="8302752" y="1767840"/>
            <a:ext cx="3413760" cy="877824"/>
          </a:xfrm>
          <a:prstGeom prst="roundRect">
            <a:avLst>
              <a:gd name="adj" fmla="val 11111"/>
            </a:avLst>
          </a:prstGeom>
          <a:solidFill>
            <a:srgbClr val="C8E6F5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0"/>
          <p:cNvSpPr/>
          <p:nvPr/>
        </p:nvSpPr>
        <p:spPr>
          <a:xfrm>
            <a:off x="8363712" y="1804416"/>
            <a:ext cx="32918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33" dirty="0"/>
          </a:p>
        </p:txBody>
      </p:sp>
      <p:sp>
        <p:nvSpPr>
          <p:cNvPr id="31" name="Text 21"/>
          <p:cNvSpPr/>
          <p:nvPr/>
        </p:nvSpPr>
        <p:spPr>
          <a:xfrm>
            <a:off x="8363712" y="2097024"/>
            <a:ext cx="32918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24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712" y="2901696"/>
            <a:ext cx="329184" cy="32918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790432" y="2755392"/>
            <a:ext cx="29504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integration</a:t>
            </a:r>
            <a:endParaRPr lang="en-US" sz="1533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712" y="3608832"/>
            <a:ext cx="329184" cy="329184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8790432" y="3462528"/>
            <a:ext cx="29504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workflows</a:t>
            </a:r>
            <a:endParaRPr lang="en-US" sz="1533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712" y="4315968"/>
            <a:ext cx="329184" cy="329184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8790432" y="4169664"/>
            <a:ext cx="29504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Multi-environment MCP</a:t>
            </a:r>
            <a:endParaRPr lang="en-US" sz="1533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712" y="5023104"/>
            <a:ext cx="329184" cy="329184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8790432" y="4876800"/>
            <a:ext cx="29504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533" dirty="0"/>
          </a:p>
        </p:txBody>
      </p:sp>
      <p:sp>
        <p:nvSpPr>
          <p:cNvPr id="42" name="Text 26"/>
          <p:cNvSpPr/>
          <p:nvPr/>
        </p:nvSpPr>
        <p:spPr>
          <a:xfrm>
            <a:off x="365760" y="6364224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Mishra  |  Bengaluru Tableau User Group  |  June 2026</a:t>
            </a:r>
            <a:endParaRPr lang="en-US" sz="133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90560" y="-609600"/>
            <a:ext cx="5120640" cy="5120640"/>
          </a:xfrm>
          <a:prstGeom prst="ellipse">
            <a:avLst/>
          </a:prstGeom>
          <a:solidFill>
            <a:srgbClr val="BDE0F5"/>
          </a:solidFill>
          <a:ln w="12700">
            <a:solidFill>
              <a:srgbClr val="BDE0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900160" y="121920"/>
            <a:ext cx="3413760" cy="3413760"/>
          </a:xfrm>
          <a:prstGeom prst="ellipse">
            <a:avLst/>
          </a:prstGeom>
          <a:solidFill>
            <a:srgbClr val="D6EEF9"/>
          </a:solidFill>
          <a:ln w="12700">
            <a:solidFill>
              <a:srgbClr val="D6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0" y="3413760"/>
            <a:ext cx="3048000" cy="3048000"/>
          </a:xfrm>
          <a:prstGeom prst="ellipse">
            <a:avLst/>
          </a:prstGeom>
          <a:solidFill>
            <a:srgbClr val="D6EEF9"/>
          </a:solidFill>
          <a:ln w="12700">
            <a:solidFill>
              <a:srgbClr val="D6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26720" y="243840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spc="267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6720" y="609600"/>
            <a:ext cx="9144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4533" dirty="0"/>
          </a:p>
        </p:txBody>
      </p:sp>
      <p:sp>
        <p:nvSpPr>
          <p:cNvPr id="7" name="Text 5"/>
          <p:cNvSpPr/>
          <p:nvPr/>
        </p:nvSpPr>
        <p:spPr>
          <a:xfrm>
            <a:off x="426720" y="1560576"/>
            <a:ext cx="7924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try this yourself today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426720" y="22189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733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" y="2706624"/>
            <a:ext cx="341376" cy="3413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02208" y="2694432"/>
            <a:ext cx="4876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MCP Repo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02208" y="2999232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github.com/tableau/tableau-mcp</a:t>
            </a:r>
            <a:endParaRPr lang="en-US" sz="1333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96" y="3377184"/>
            <a:ext cx="341376" cy="3413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2208" y="3364992"/>
            <a:ext cx="4876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Inspector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02208" y="3669792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modelcontextprotocol.io/docs/tools/inspector</a:t>
            </a:r>
            <a:endParaRPr lang="en-US" sz="1333" dirty="0"/>
          </a:p>
        </p:txBody>
      </p:sp>
      <p:sp>
        <p:nvSpPr>
          <p:cNvPr id="15" name="Text 11"/>
          <p:cNvSpPr/>
          <p:nvPr/>
        </p:nvSpPr>
        <p:spPr>
          <a:xfrm>
            <a:off x="426720" y="40965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733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96" y="4608576"/>
            <a:ext cx="304800" cy="304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" y="4596384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</a:t>
            </a:r>
            <a:endParaRPr lang="en-US" sz="16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96" y="5035296"/>
            <a:ext cx="304800" cy="304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7824" y="5023104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Cloud account</a:t>
            </a:r>
            <a:endParaRPr lang="en-US" sz="16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96" y="5462016"/>
            <a:ext cx="304800" cy="3048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77824" y="5449824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Access Token (PAT)</a:t>
            </a:r>
            <a:endParaRPr lang="en-US" sz="1600" dirty="0"/>
          </a:p>
        </p:txBody>
      </p:sp>
      <p:pic>
        <p:nvPicPr>
          <p:cNvPr id="38" name="Image 7" descr="btug_unpacked/ppt/media/imag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" y="6315456"/>
            <a:ext cx="1706880" cy="341376"/>
          </a:xfrm>
          <a:prstGeom prst="rect">
            <a:avLst/>
          </a:prstGeom>
        </p:spPr>
      </p:pic>
      <p:pic>
        <p:nvPicPr>
          <p:cNvPr id="39" name="Image 8" descr="btug_unpacked/ppt/media/image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2096" y="6315456"/>
            <a:ext cx="463296" cy="34137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2987040" y="6339840"/>
            <a:ext cx="670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Tableau User Group  |  June 2026</a:t>
            </a:r>
            <a:endParaRPr lang="en-US" sz="133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899</Words>
  <Application>Microsoft Office PowerPoint</Application>
  <PresentationFormat>Widescreen</PresentationFormat>
  <Paragraphs>189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Courier New</vt:lpstr>
      <vt:lpstr>Arial</vt:lpstr>
      <vt:lpstr>Poppins</vt:lpstr>
      <vt:lpstr>Calibri</vt:lpstr>
      <vt:lpstr>Play</vt:lpstr>
      <vt:lpstr>Poppins Medium</vt:lpstr>
      <vt:lpstr>Office Theme</vt:lpstr>
      <vt:lpstr>Session: Tableau MCP Server in Enterprise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pooja.k</dc:creator>
  <cp:lastModifiedBy>Ritesh Mishra</cp:lastModifiedBy>
  <cp:revision>7</cp:revision>
  <dcterms:created xsi:type="dcterms:W3CDTF">2026-01-03T07:10:47Z</dcterms:created>
  <dcterms:modified xsi:type="dcterms:W3CDTF">2026-06-26T16:41:00Z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2026-01-03T09:53:05Z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3c82933c-1523-4e91-a6b4-4b4c1fd0b95c</vt:lpwstr>
  </property>
  <property fmtid="{D5CDD505-2E9C-101B-9397-08002B2CF9AE}" pid="7" name="MSIP_Label_defa4170-0d19-0005-0004-bc88714345d2_ActionId">
    <vt:lpwstr>bab2c84f-b5e2-4460-bf54-27a64449d93e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